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71" r:id="rId10"/>
    <p:sldId id="265" r:id="rId11"/>
    <p:sldId id="266" r:id="rId12"/>
    <p:sldId id="267" r:id="rId13"/>
    <p:sldId id="268" r:id="rId14"/>
    <p:sldId id="270" r:id="rId15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540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3447" y="2125980"/>
            <a:ext cx="1035240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03680" y="283516"/>
            <a:ext cx="6356350" cy="1274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6418" y="1877249"/>
            <a:ext cx="10834370" cy="395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9096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g"/><Relationship Id="rId7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56646" y="1774227"/>
            <a:ext cx="8916670" cy="13614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0" indent="0" algn="ctr">
              <a:lnSpc>
                <a:spcPts val="5240"/>
              </a:lnSpc>
              <a:spcBef>
                <a:spcPts val="240"/>
              </a:spcBef>
            </a:pPr>
            <a:r>
              <a:rPr dirty="0"/>
              <a:t>Design And Implementation Of</a:t>
            </a:r>
          </a:p>
          <a:p>
            <a:pPr marL="0" indent="0" algn="ctr">
              <a:lnSpc>
                <a:spcPts val="5240"/>
              </a:lnSpc>
              <a:spcBef>
                <a:spcPts val="240"/>
              </a:spcBef>
            </a:pPr>
            <a:r>
              <a:rPr dirty="0"/>
              <a:t>Duplicate File Detection 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9650" y="3256380"/>
            <a:ext cx="7600000" cy="248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17900"/>
              </a:lnSpc>
            </a:pPr>
            <a:r>
              <a:rPr sz="2700" dirty="0">
                <a:latin typeface="Calibri"/>
                <a:cs typeface="Calibri"/>
              </a:rPr>
              <a:t>Presented by: Monish L [1972260035]</a:t>
            </a:r>
          </a:p>
          <a:p>
            <a:pPr marL="12065" algn="ctr">
              <a:lnSpc>
                <a:spcPct val="117900"/>
              </a:lnSpc>
            </a:pPr>
            <a:r>
              <a:rPr sz="2700" dirty="0">
                <a:latin typeface="Calibri"/>
                <a:cs typeface="Calibri"/>
              </a:rPr>
              <a:t>Jeevan Shine D [1965260019]</a:t>
            </a:r>
          </a:p>
          <a:p>
            <a:pPr marL="12065" algn="ctr">
              <a:lnSpc>
                <a:spcPct val="117900"/>
              </a:lnSpc>
            </a:pPr>
            <a:r>
              <a:rPr sz="2700" dirty="0">
                <a:latin typeface="Calibri"/>
                <a:cs typeface="Calibri"/>
              </a:rPr>
              <a:t>CSA0307 - Data Structure</a:t>
            </a:r>
          </a:p>
          <a:p>
            <a:pPr marL="12065" algn="ctr">
              <a:lnSpc>
                <a:spcPct val="117900"/>
              </a:lnSpc>
            </a:pPr>
            <a:r>
              <a:rPr sz="2700" dirty="0">
                <a:latin typeface="Calibri"/>
                <a:cs typeface="Calibri"/>
              </a:rPr>
              <a:t>Date: 29/10/2026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1558" rIns="0" bIns="0" rtlCol="0">
            <a:spAutoFit/>
          </a:bodyPr>
          <a:lstStyle/>
          <a:p>
            <a:pPr marL="164211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3725" y="1777213"/>
            <a:ext cx="10544175" cy="31292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 MT"/>
              <a:buChar char="•"/>
            </a:pPr>
            <a:r>
              <a:rPr sz="3200" dirty="0">
                <a:latin typeface="Calibri"/>
                <a:cs typeface="Calibri"/>
              </a:rPr>
              <a:t>The project uses data structures in C, a hash table and linked lists, to detect duplicate files stored in a folder.</a:t>
            </a:r>
          </a:p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 MT"/>
              <a:buChar char="•"/>
            </a:pPr>
            <a:r>
              <a:rPr sz="3200" dirty="0">
                <a:latin typeface="Calibri"/>
                <a:cs typeface="Calibri"/>
              </a:rPr>
              <a:t>Duplicate copies waste disk space, and finding them by hand or by comparing every pair of files is slow and unreliable.</a:t>
            </a:r>
          </a:p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 MT"/>
              <a:buChar char="•"/>
            </a:pPr>
            <a:r>
              <a:rPr sz="3200" dirty="0">
                <a:latin typeface="Calibri"/>
                <a:cs typeface="Calibri"/>
              </a:rPr>
              <a:t>Purpose of the project is to automate duplicate detection with fast, content-based comparison that ignores file names.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209613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3966" y="1683966"/>
            <a:ext cx="10648315" cy="42697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90525" indent="-378460" algn="just">
              <a:lnSpc>
                <a:spcPts val="3820"/>
              </a:lnSpc>
              <a:spcBef>
                <a:spcPts val="875"/>
              </a:spcBef>
              <a:buFont typeface="Arial MT"/>
              <a:buChar char="•"/>
            </a:pPr>
            <a:r>
              <a:rPr sz="3200" dirty="0">
                <a:latin typeface="Calibri"/>
                <a:cs typeface="Calibri"/>
              </a:rPr>
              <a:t>Scan a folder and all its sub-folders, and index every file by its size and content hash.</a:t>
            </a:r>
          </a:p>
          <a:p>
            <a:pPr marL="390525" indent="-378460" algn="just">
              <a:lnSpc>
                <a:spcPts val="3820"/>
              </a:lnSpc>
              <a:spcBef>
                <a:spcPts val="875"/>
              </a:spcBef>
              <a:buFont typeface="Arial MT"/>
              <a:buChar char="•"/>
            </a:pPr>
            <a:r>
              <a:rPr sz="3200" dirty="0">
                <a:latin typeface="Calibri"/>
                <a:cs typeface="Calibri"/>
              </a:rPr>
              <a:t>Use a hash table with chaining for fast lookup, and linked lists to group the paths of duplicate files.</a:t>
            </a:r>
          </a:p>
          <a:p>
            <a:pPr marL="390525" indent="-378460" algn="just">
              <a:lnSpc>
                <a:spcPts val="3820"/>
              </a:lnSpc>
              <a:spcBef>
                <a:spcPts val="875"/>
              </a:spcBef>
              <a:buFont typeface="Arial MT"/>
              <a:buChar char="•"/>
            </a:pPr>
            <a:r>
              <a:rPr sz="3200" dirty="0">
                <a:latin typeface="Calibri"/>
                <a:cs typeface="Calibri"/>
              </a:rPr>
              <a:t>Identify duplicates by content, not by name, and verify each match byte by byte to avoid false positives.</a:t>
            </a:r>
          </a:p>
          <a:p>
            <a:pPr marL="390525" indent="-378460" algn="just">
              <a:lnSpc>
                <a:spcPts val="3820"/>
              </a:lnSpc>
              <a:spcBef>
                <a:spcPts val="875"/>
              </a:spcBef>
              <a:buFont typeface="Arial MT"/>
              <a:buChar char="•"/>
            </a:pPr>
            <a:r>
              <a:rPr sz="3200" dirty="0">
                <a:latin typeface="Calibri"/>
                <a:cs typeface="Calibri"/>
              </a:rPr>
              <a:t>Report the duplicate sets and the reclaimable disk space so the user can clean up safely.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175387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598" y="1958140"/>
            <a:ext cx="10868025" cy="33940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486409" indent="-473709">
              <a:lnSpc>
                <a:spcPct val="100000"/>
              </a:lnSpc>
              <a:spcBef>
                <a:spcPts val="730"/>
              </a:spcBef>
              <a:buFont typeface="Arial MT"/>
              <a:buChar char="•"/>
            </a:pPr>
            <a:r>
              <a:rPr sz="3200" b="1" dirty="0">
                <a:latin typeface="Calibri"/>
                <a:cs typeface="Calibri"/>
              </a:rPr>
              <a:t>Programming language used : </a:t>
            </a:r>
            <a:r>
              <a:rPr sz="3200" dirty="0">
                <a:latin typeface="Calibri"/>
                <a:cs typeface="Calibri"/>
              </a:rPr>
              <a:t>ANSI C (C99 standard)</a:t>
            </a:r>
          </a:p>
          <a:p>
            <a:pPr marL="486409" indent="-473709">
              <a:lnSpc>
                <a:spcPct val="100000"/>
              </a:lnSpc>
              <a:spcBef>
                <a:spcPts val="730"/>
              </a:spcBef>
              <a:buFont typeface="Arial MT"/>
              <a:buChar char="•"/>
            </a:pPr>
            <a:r>
              <a:rPr sz="3200" b="1" dirty="0">
                <a:latin typeface="Calibri"/>
                <a:cs typeface="Calibri"/>
              </a:rPr>
              <a:t>Compiler &amp; environment : </a:t>
            </a:r>
            <a:r>
              <a:rPr sz="3200" dirty="0">
                <a:latin typeface="Calibri"/>
                <a:cs typeface="Calibri"/>
              </a:rPr>
              <a:t>GCC (GNU Compiler Collection), Visual Studio Code</a:t>
            </a:r>
          </a:p>
          <a:p>
            <a:pPr marL="486409" indent="-473709">
              <a:lnSpc>
                <a:spcPct val="100000"/>
              </a:lnSpc>
              <a:spcBef>
                <a:spcPts val="730"/>
              </a:spcBef>
              <a:buFont typeface="Arial MT"/>
              <a:buChar char="•"/>
            </a:pPr>
            <a:r>
              <a:rPr sz="3200" b="1" dirty="0">
                <a:latin typeface="Calibri"/>
                <a:cs typeface="Calibri"/>
              </a:rPr>
              <a:t>Data structures used : </a:t>
            </a:r>
            <a:r>
              <a:rPr sz="3200" dirty="0">
                <a:latin typeface="Calibri"/>
                <a:cs typeface="Calibri"/>
              </a:rPr>
              <a:t>Hash table with chaining, singly linked list, recursion</a:t>
            </a:r>
          </a:p>
          <a:p>
            <a:pPr marL="486409" indent="-473709">
              <a:lnSpc>
                <a:spcPct val="100000"/>
              </a:lnSpc>
              <a:spcBef>
                <a:spcPts val="730"/>
              </a:spcBef>
              <a:buFont typeface="Arial MT"/>
              <a:buChar char="•"/>
            </a:pPr>
            <a:r>
              <a:rPr sz="3200" b="1" dirty="0">
                <a:latin typeface="Calibri"/>
                <a:cs typeface="Calibri"/>
              </a:rPr>
              <a:t>Algorithm : </a:t>
            </a:r>
            <a:r>
              <a:rPr sz="3200" dirty="0">
                <a:latin typeface="Calibri"/>
                <a:cs typeface="Calibri"/>
              </a:rPr>
              <a:t>FNV-1a 64-bit content hash, then byte-by-byte verification</a:t>
            </a:r>
          </a:p>
          <a:p>
            <a:pPr marL="486409" indent="-473709">
              <a:lnSpc>
                <a:spcPct val="100000"/>
              </a:lnSpc>
              <a:spcBef>
                <a:spcPts val="730"/>
              </a:spcBef>
              <a:buFont typeface="Arial MT"/>
              <a:buChar char="•"/>
            </a:pPr>
            <a:r>
              <a:rPr sz="3200" b="1" dirty="0">
                <a:latin typeface="Calibri"/>
                <a:cs typeface="Calibri"/>
              </a:rPr>
              <a:t>Input : </a:t>
            </a:r>
            <a:r>
              <a:rPr sz="3200" dirty="0">
                <a:latin typeface="Calibri"/>
                <a:cs typeface="Calibri"/>
              </a:rPr>
              <a:t>Folder path from the command line; files read in binary mode (read-only)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spc="-225" dirty="0"/>
              <a:t> </a:t>
            </a:r>
            <a:r>
              <a:rPr spc="-10" dirty="0"/>
              <a:t>Architecture</a:t>
            </a:r>
            <a:r>
              <a:rPr spc="-225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23839" y="1894162"/>
            <a:ext cx="2256706" cy="749701"/>
            <a:chOff x="499977" y="1756199"/>
            <a:chExt cx="1663700" cy="10033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977" y="1756199"/>
              <a:ext cx="1663548" cy="10028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692" y="1780935"/>
              <a:ext cx="1574116" cy="91344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4692" y="1780935"/>
              <a:ext cx="1574165" cy="913765"/>
            </a:xfrm>
            <a:custGeom>
              <a:avLst/>
              <a:gdLst/>
              <a:ahLst/>
              <a:cxnLst/>
              <a:rect l="l" t="t" r="r" b="b"/>
              <a:pathLst>
                <a:path w="1574164" h="913764">
                  <a:moveTo>
                    <a:pt x="0" y="152244"/>
                  </a:moveTo>
                  <a:lnTo>
                    <a:pt x="7761" y="104123"/>
                  </a:lnTo>
                  <a:lnTo>
                    <a:pt x="29374" y="62330"/>
                  </a:lnTo>
                  <a:lnTo>
                    <a:pt x="62330" y="29374"/>
                  </a:lnTo>
                  <a:lnTo>
                    <a:pt x="104123" y="7761"/>
                  </a:lnTo>
                  <a:lnTo>
                    <a:pt x="152244" y="0"/>
                  </a:lnTo>
                  <a:lnTo>
                    <a:pt x="1421872" y="0"/>
                  </a:lnTo>
                  <a:lnTo>
                    <a:pt x="1480133" y="11588"/>
                  </a:lnTo>
                  <a:lnTo>
                    <a:pt x="1529525" y="44591"/>
                  </a:lnTo>
                  <a:lnTo>
                    <a:pt x="1562527" y="93982"/>
                  </a:lnTo>
                  <a:lnTo>
                    <a:pt x="1574116" y="152244"/>
                  </a:lnTo>
                  <a:lnTo>
                    <a:pt x="1574116" y="761203"/>
                  </a:lnTo>
                  <a:lnTo>
                    <a:pt x="1566355" y="809324"/>
                  </a:lnTo>
                  <a:lnTo>
                    <a:pt x="1544742" y="851116"/>
                  </a:lnTo>
                  <a:lnTo>
                    <a:pt x="1511785" y="884073"/>
                  </a:lnTo>
                  <a:lnTo>
                    <a:pt x="1469993" y="905685"/>
                  </a:lnTo>
                  <a:lnTo>
                    <a:pt x="1421872" y="913447"/>
                  </a:lnTo>
                  <a:lnTo>
                    <a:pt x="152244" y="913447"/>
                  </a:lnTo>
                  <a:lnTo>
                    <a:pt x="104123" y="905685"/>
                  </a:lnTo>
                  <a:lnTo>
                    <a:pt x="62330" y="884073"/>
                  </a:lnTo>
                  <a:lnTo>
                    <a:pt x="29374" y="851116"/>
                  </a:lnTo>
                  <a:lnTo>
                    <a:pt x="7761" y="809324"/>
                  </a:lnTo>
                  <a:lnTo>
                    <a:pt x="0" y="761203"/>
                  </a:lnTo>
                  <a:lnTo>
                    <a:pt x="0" y="152244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3839" y="1894162"/>
            <a:ext cx="2256706" cy="749701"/>
          </a:xfrm>
          <a:prstGeom prst="rect">
            <a:avLst/>
          </a:prstGeom>
        </p:spPr>
        <p:txBody>
          <a:bodyPr vert="horz" wrap="square" lIns="45720" tIns="12065" rIns="45720" bIns="0"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User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4799613" y="1870594"/>
            <a:ext cx="2270748" cy="757815"/>
            <a:chOff x="3185382" y="1770381"/>
            <a:chExt cx="1362075" cy="10033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85382" y="1770381"/>
              <a:ext cx="1361937" cy="10028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0098" y="1795118"/>
              <a:ext cx="1272506" cy="91344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30098" y="1795118"/>
              <a:ext cx="1272540" cy="913765"/>
            </a:xfrm>
            <a:custGeom>
              <a:avLst/>
              <a:gdLst/>
              <a:ahLst/>
              <a:cxnLst/>
              <a:rect l="l" t="t" r="r" b="b"/>
              <a:pathLst>
                <a:path w="1272539" h="913764">
                  <a:moveTo>
                    <a:pt x="0" y="152244"/>
                  </a:moveTo>
                  <a:lnTo>
                    <a:pt x="7761" y="104123"/>
                  </a:lnTo>
                  <a:lnTo>
                    <a:pt x="29374" y="62330"/>
                  </a:lnTo>
                  <a:lnTo>
                    <a:pt x="62330" y="29374"/>
                  </a:lnTo>
                  <a:lnTo>
                    <a:pt x="104123" y="7761"/>
                  </a:lnTo>
                  <a:lnTo>
                    <a:pt x="152244" y="0"/>
                  </a:lnTo>
                  <a:lnTo>
                    <a:pt x="1120261" y="0"/>
                  </a:lnTo>
                  <a:lnTo>
                    <a:pt x="1178523" y="11588"/>
                  </a:lnTo>
                  <a:lnTo>
                    <a:pt x="1227914" y="44591"/>
                  </a:lnTo>
                  <a:lnTo>
                    <a:pt x="1260917" y="93982"/>
                  </a:lnTo>
                  <a:lnTo>
                    <a:pt x="1272506" y="152244"/>
                  </a:lnTo>
                  <a:lnTo>
                    <a:pt x="1272506" y="761203"/>
                  </a:lnTo>
                  <a:lnTo>
                    <a:pt x="1264744" y="809324"/>
                  </a:lnTo>
                  <a:lnTo>
                    <a:pt x="1243131" y="851116"/>
                  </a:lnTo>
                  <a:lnTo>
                    <a:pt x="1210175" y="884073"/>
                  </a:lnTo>
                  <a:lnTo>
                    <a:pt x="1168382" y="905685"/>
                  </a:lnTo>
                  <a:lnTo>
                    <a:pt x="1120261" y="913447"/>
                  </a:lnTo>
                  <a:lnTo>
                    <a:pt x="152244" y="913447"/>
                  </a:lnTo>
                  <a:lnTo>
                    <a:pt x="104123" y="905685"/>
                  </a:lnTo>
                  <a:lnTo>
                    <a:pt x="62330" y="884073"/>
                  </a:lnTo>
                  <a:lnTo>
                    <a:pt x="29374" y="851116"/>
                  </a:lnTo>
                  <a:lnTo>
                    <a:pt x="7761" y="809324"/>
                  </a:lnTo>
                  <a:lnTo>
                    <a:pt x="0" y="761203"/>
                  </a:lnTo>
                  <a:lnTo>
                    <a:pt x="0" y="152244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99613" y="1870594"/>
            <a:ext cx="2270748" cy="757815"/>
          </a:xfrm>
          <a:prstGeom prst="rect">
            <a:avLst/>
          </a:prstGeom>
        </p:spPr>
        <p:txBody>
          <a:bodyPr vert="horz" wrap="square" lIns="45720" tIns="12065" rIns="45720" bIns="0"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Select Folder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4883645" y="3510682"/>
            <a:ext cx="2233120" cy="742606"/>
            <a:chOff x="2780545" y="3536595"/>
            <a:chExt cx="2151869" cy="873616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80545" y="3536595"/>
              <a:ext cx="2151869" cy="8736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25260" y="3561332"/>
              <a:ext cx="2062437" cy="78418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25260" y="3561332"/>
              <a:ext cx="2062480" cy="784225"/>
            </a:xfrm>
            <a:custGeom>
              <a:avLst/>
              <a:gdLst/>
              <a:ahLst/>
              <a:cxnLst/>
              <a:rect l="l" t="t" r="r" b="b"/>
              <a:pathLst>
                <a:path w="2062479" h="784225">
                  <a:moveTo>
                    <a:pt x="0" y="130700"/>
                  </a:moveTo>
                  <a:lnTo>
                    <a:pt x="10271" y="79825"/>
                  </a:lnTo>
                  <a:lnTo>
                    <a:pt x="38281" y="38281"/>
                  </a:lnTo>
                  <a:lnTo>
                    <a:pt x="79825" y="10271"/>
                  </a:lnTo>
                  <a:lnTo>
                    <a:pt x="130700" y="0"/>
                  </a:lnTo>
                  <a:lnTo>
                    <a:pt x="1931737" y="0"/>
                  </a:lnTo>
                  <a:lnTo>
                    <a:pt x="1981753" y="9948"/>
                  </a:lnTo>
                  <a:lnTo>
                    <a:pt x="2024156" y="38281"/>
                  </a:lnTo>
                  <a:lnTo>
                    <a:pt x="2052488" y="80683"/>
                  </a:lnTo>
                  <a:lnTo>
                    <a:pt x="2062437" y="130700"/>
                  </a:lnTo>
                  <a:lnTo>
                    <a:pt x="2062437" y="653484"/>
                  </a:lnTo>
                  <a:lnTo>
                    <a:pt x="2052166" y="704359"/>
                  </a:lnTo>
                  <a:lnTo>
                    <a:pt x="2024156" y="745903"/>
                  </a:lnTo>
                  <a:lnTo>
                    <a:pt x="1982611" y="773913"/>
                  </a:lnTo>
                  <a:lnTo>
                    <a:pt x="1931737" y="784184"/>
                  </a:lnTo>
                  <a:lnTo>
                    <a:pt x="130700" y="784184"/>
                  </a:lnTo>
                  <a:lnTo>
                    <a:pt x="79825" y="773913"/>
                  </a:lnTo>
                  <a:lnTo>
                    <a:pt x="38281" y="745903"/>
                  </a:lnTo>
                  <a:lnTo>
                    <a:pt x="10271" y="704359"/>
                  </a:lnTo>
                  <a:lnTo>
                    <a:pt x="0" y="653484"/>
                  </a:lnTo>
                  <a:lnTo>
                    <a:pt x="0" y="130700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83645" y="3510682"/>
            <a:ext cx="2233120" cy="742606"/>
          </a:xfrm>
          <a:prstGeom prst="rect">
            <a:avLst/>
          </a:prstGeom>
        </p:spPr>
        <p:txBody>
          <a:bodyPr vert="horz" wrap="square" lIns="45720" tIns="12065" rIns="45720" bIns="0"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Compute Hash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4913497" y="5235681"/>
            <a:ext cx="2136020" cy="757497"/>
            <a:chOff x="2080560" y="5231714"/>
            <a:chExt cx="3545204" cy="85979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80560" y="5231714"/>
              <a:ext cx="3545017" cy="85925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25275" y="5256451"/>
              <a:ext cx="3455585" cy="7698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125275" y="5256451"/>
              <a:ext cx="3455670" cy="770255"/>
            </a:xfrm>
            <a:custGeom>
              <a:avLst/>
              <a:gdLst/>
              <a:ahLst/>
              <a:cxnLst/>
              <a:rect l="l" t="t" r="r" b="b"/>
              <a:pathLst>
                <a:path w="3455670" h="770254">
                  <a:moveTo>
                    <a:pt x="0" y="128306"/>
                  </a:moveTo>
                  <a:lnTo>
                    <a:pt x="10082" y="78364"/>
                  </a:lnTo>
                  <a:lnTo>
                    <a:pt x="37580" y="37580"/>
                  </a:lnTo>
                  <a:lnTo>
                    <a:pt x="78363" y="10083"/>
                  </a:lnTo>
                  <a:lnTo>
                    <a:pt x="128306" y="0"/>
                  </a:lnTo>
                  <a:lnTo>
                    <a:pt x="3327279" y="0"/>
                  </a:lnTo>
                  <a:lnTo>
                    <a:pt x="3376379" y="9766"/>
                  </a:lnTo>
                  <a:lnTo>
                    <a:pt x="3418005" y="37580"/>
                  </a:lnTo>
                  <a:lnTo>
                    <a:pt x="3445818" y="79206"/>
                  </a:lnTo>
                  <a:lnTo>
                    <a:pt x="3455585" y="128306"/>
                  </a:lnTo>
                  <a:lnTo>
                    <a:pt x="3455585" y="641517"/>
                  </a:lnTo>
                  <a:lnTo>
                    <a:pt x="3445502" y="691460"/>
                  </a:lnTo>
                  <a:lnTo>
                    <a:pt x="3418005" y="732244"/>
                  </a:lnTo>
                  <a:lnTo>
                    <a:pt x="3377221" y="759741"/>
                  </a:lnTo>
                  <a:lnTo>
                    <a:pt x="3327279" y="769824"/>
                  </a:lnTo>
                  <a:lnTo>
                    <a:pt x="128306" y="769824"/>
                  </a:lnTo>
                  <a:lnTo>
                    <a:pt x="78363" y="759741"/>
                  </a:lnTo>
                  <a:lnTo>
                    <a:pt x="37580" y="732244"/>
                  </a:lnTo>
                  <a:lnTo>
                    <a:pt x="10082" y="691460"/>
                  </a:lnTo>
                  <a:lnTo>
                    <a:pt x="0" y="641517"/>
                  </a:lnTo>
                  <a:lnTo>
                    <a:pt x="0" y="128306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13497" y="5235681"/>
            <a:ext cx="2136020" cy="757497"/>
          </a:xfrm>
          <a:prstGeom prst="rect">
            <a:avLst/>
          </a:prstGeom>
        </p:spPr>
        <p:txBody>
          <a:bodyPr vert="horz" wrap="square" lIns="45720" tIns="12065" rIns="45720" bIns="0"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Verify &amp; Group Duplicates</a:t>
            </a:r>
          </a:p>
        </p:txBody>
      </p:sp>
      <p:grpSp>
        <p:nvGrpSpPr>
          <p:cNvPr id="27" name="object 27"/>
          <p:cNvGrpSpPr/>
          <p:nvPr/>
        </p:nvGrpSpPr>
        <p:grpSpPr>
          <a:xfrm>
            <a:off x="7909335" y="3154789"/>
            <a:ext cx="2233120" cy="758718"/>
            <a:chOff x="7894450" y="3178074"/>
            <a:chExt cx="1922070" cy="758718"/>
          </a:xfrm>
        </p:grpSpPr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94450" y="3178074"/>
              <a:ext cx="1922070" cy="75871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39166" y="3202811"/>
              <a:ext cx="1832638" cy="66928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939166" y="3202811"/>
              <a:ext cx="1833245" cy="669290"/>
            </a:xfrm>
            <a:custGeom>
              <a:avLst/>
              <a:gdLst/>
              <a:ahLst/>
              <a:cxnLst/>
              <a:rect l="l" t="t" r="r" b="b"/>
              <a:pathLst>
                <a:path w="1833245" h="669289">
                  <a:moveTo>
                    <a:pt x="0" y="111550"/>
                  </a:moveTo>
                  <a:lnTo>
                    <a:pt x="8766" y="68129"/>
                  </a:lnTo>
                  <a:lnTo>
                    <a:pt x="32672" y="32672"/>
                  </a:lnTo>
                  <a:lnTo>
                    <a:pt x="68129" y="8766"/>
                  </a:lnTo>
                  <a:lnTo>
                    <a:pt x="111550" y="0"/>
                  </a:lnTo>
                  <a:lnTo>
                    <a:pt x="1721089" y="0"/>
                  </a:lnTo>
                  <a:lnTo>
                    <a:pt x="1763777" y="8491"/>
                  </a:lnTo>
                  <a:lnTo>
                    <a:pt x="1799966" y="32672"/>
                  </a:lnTo>
                  <a:lnTo>
                    <a:pt x="1824147" y="68861"/>
                  </a:lnTo>
                  <a:lnTo>
                    <a:pt x="1832638" y="111550"/>
                  </a:lnTo>
                  <a:lnTo>
                    <a:pt x="1832638" y="557736"/>
                  </a:lnTo>
                  <a:lnTo>
                    <a:pt x="1823872" y="601157"/>
                  </a:lnTo>
                  <a:lnTo>
                    <a:pt x="1799966" y="636614"/>
                  </a:lnTo>
                  <a:lnTo>
                    <a:pt x="1764509" y="660520"/>
                  </a:lnTo>
                  <a:lnTo>
                    <a:pt x="1721089" y="669287"/>
                  </a:lnTo>
                  <a:lnTo>
                    <a:pt x="111550" y="669287"/>
                  </a:lnTo>
                  <a:lnTo>
                    <a:pt x="68129" y="660520"/>
                  </a:lnTo>
                  <a:lnTo>
                    <a:pt x="32672" y="636614"/>
                  </a:lnTo>
                  <a:lnTo>
                    <a:pt x="8766" y="601157"/>
                  </a:lnTo>
                  <a:lnTo>
                    <a:pt x="0" y="557736"/>
                  </a:lnTo>
                  <a:lnTo>
                    <a:pt x="0" y="111550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909335" y="3154789"/>
            <a:ext cx="2233120" cy="758718"/>
          </a:xfrm>
          <a:prstGeom prst="rect">
            <a:avLst/>
          </a:prstGeom>
        </p:spPr>
        <p:txBody>
          <a:bodyPr vert="horz" wrap="square" lIns="45720" tIns="12065" rIns="45720" bIns="0"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Hash Table</a:t>
            </a:r>
          </a:p>
        </p:txBody>
      </p:sp>
      <p:grpSp>
        <p:nvGrpSpPr>
          <p:cNvPr id="34" name="object 34"/>
          <p:cNvGrpSpPr/>
          <p:nvPr/>
        </p:nvGrpSpPr>
        <p:grpSpPr>
          <a:xfrm>
            <a:off x="8769544" y="1874224"/>
            <a:ext cx="2270831" cy="757939"/>
            <a:chOff x="8057462" y="1837524"/>
            <a:chExt cx="1620520" cy="873760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57462" y="1837524"/>
              <a:ext cx="1620461" cy="87361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02178" y="1862261"/>
              <a:ext cx="1531029" cy="78418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102178" y="1862261"/>
              <a:ext cx="1531620" cy="784225"/>
            </a:xfrm>
            <a:custGeom>
              <a:avLst/>
              <a:gdLst/>
              <a:ahLst/>
              <a:cxnLst/>
              <a:rect l="l" t="t" r="r" b="b"/>
              <a:pathLst>
                <a:path w="1531620" h="784225">
                  <a:moveTo>
                    <a:pt x="0" y="130700"/>
                  </a:moveTo>
                  <a:lnTo>
                    <a:pt x="10271" y="79825"/>
                  </a:lnTo>
                  <a:lnTo>
                    <a:pt x="38281" y="38281"/>
                  </a:lnTo>
                  <a:lnTo>
                    <a:pt x="79825" y="10271"/>
                  </a:lnTo>
                  <a:lnTo>
                    <a:pt x="130699" y="0"/>
                  </a:lnTo>
                  <a:lnTo>
                    <a:pt x="1400329" y="0"/>
                  </a:lnTo>
                  <a:lnTo>
                    <a:pt x="1450345" y="9949"/>
                  </a:lnTo>
                  <a:lnTo>
                    <a:pt x="1492748" y="38281"/>
                  </a:lnTo>
                  <a:lnTo>
                    <a:pt x="1521080" y="80683"/>
                  </a:lnTo>
                  <a:lnTo>
                    <a:pt x="1531029" y="130700"/>
                  </a:lnTo>
                  <a:lnTo>
                    <a:pt x="1531029" y="653485"/>
                  </a:lnTo>
                  <a:lnTo>
                    <a:pt x="1520758" y="704360"/>
                  </a:lnTo>
                  <a:lnTo>
                    <a:pt x="1492748" y="745905"/>
                  </a:lnTo>
                  <a:lnTo>
                    <a:pt x="1451203" y="773915"/>
                  </a:lnTo>
                  <a:lnTo>
                    <a:pt x="1400329" y="784186"/>
                  </a:lnTo>
                  <a:lnTo>
                    <a:pt x="130699" y="784186"/>
                  </a:lnTo>
                  <a:lnTo>
                    <a:pt x="79825" y="773915"/>
                  </a:lnTo>
                  <a:lnTo>
                    <a:pt x="38281" y="745905"/>
                  </a:lnTo>
                  <a:lnTo>
                    <a:pt x="10271" y="704360"/>
                  </a:lnTo>
                  <a:lnTo>
                    <a:pt x="0" y="653485"/>
                  </a:lnTo>
                  <a:lnTo>
                    <a:pt x="0" y="130700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769544" y="1874224"/>
            <a:ext cx="2270831" cy="757939"/>
          </a:xfrm>
          <a:prstGeom prst="rect">
            <a:avLst/>
          </a:prstGeom>
        </p:spPr>
        <p:txBody>
          <a:bodyPr vert="horz" wrap="square" lIns="45720" tIns="12065" rIns="45720" bIns="0"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File System</a:t>
            </a:r>
          </a:p>
        </p:txBody>
      </p:sp>
      <p:grpSp>
        <p:nvGrpSpPr>
          <p:cNvPr id="39" name="object 39"/>
          <p:cNvGrpSpPr/>
          <p:nvPr/>
        </p:nvGrpSpPr>
        <p:grpSpPr>
          <a:xfrm>
            <a:off x="7909337" y="3944667"/>
            <a:ext cx="2233118" cy="744855"/>
            <a:chOff x="7908989" y="4002833"/>
            <a:chExt cx="1922145" cy="744855"/>
          </a:xfrm>
        </p:grpSpPr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08989" y="4002833"/>
              <a:ext cx="1922072" cy="74435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953705" y="4027569"/>
              <a:ext cx="1832640" cy="65492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953705" y="4027569"/>
              <a:ext cx="1833245" cy="655320"/>
            </a:xfrm>
            <a:custGeom>
              <a:avLst/>
              <a:gdLst/>
              <a:ahLst/>
              <a:cxnLst/>
              <a:rect l="l" t="t" r="r" b="b"/>
              <a:pathLst>
                <a:path w="1833245" h="655320">
                  <a:moveTo>
                    <a:pt x="0" y="109156"/>
                  </a:moveTo>
                  <a:lnTo>
                    <a:pt x="8578" y="66667"/>
                  </a:lnTo>
                  <a:lnTo>
                    <a:pt x="31971" y="31971"/>
                  </a:lnTo>
                  <a:lnTo>
                    <a:pt x="66667" y="8578"/>
                  </a:lnTo>
                  <a:lnTo>
                    <a:pt x="109155" y="0"/>
                  </a:lnTo>
                  <a:lnTo>
                    <a:pt x="1723484" y="0"/>
                  </a:lnTo>
                  <a:lnTo>
                    <a:pt x="1765256" y="8309"/>
                  </a:lnTo>
                  <a:lnTo>
                    <a:pt x="1800670" y="31971"/>
                  </a:lnTo>
                  <a:lnTo>
                    <a:pt x="1824331" y="67383"/>
                  </a:lnTo>
                  <a:lnTo>
                    <a:pt x="1832640" y="109156"/>
                  </a:lnTo>
                  <a:lnTo>
                    <a:pt x="1832640" y="545767"/>
                  </a:lnTo>
                  <a:lnTo>
                    <a:pt x="1824062" y="588256"/>
                  </a:lnTo>
                  <a:lnTo>
                    <a:pt x="1800669" y="622952"/>
                  </a:lnTo>
                  <a:lnTo>
                    <a:pt x="1765973" y="646346"/>
                  </a:lnTo>
                  <a:lnTo>
                    <a:pt x="1723484" y="654924"/>
                  </a:lnTo>
                  <a:lnTo>
                    <a:pt x="109155" y="654924"/>
                  </a:lnTo>
                  <a:lnTo>
                    <a:pt x="66667" y="646346"/>
                  </a:lnTo>
                  <a:lnTo>
                    <a:pt x="31971" y="622952"/>
                  </a:lnTo>
                  <a:lnTo>
                    <a:pt x="8578" y="588256"/>
                  </a:lnTo>
                  <a:lnTo>
                    <a:pt x="0" y="545767"/>
                  </a:lnTo>
                  <a:lnTo>
                    <a:pt x="0" y="109156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909337" y="3944667"/>
            <a:ext cx="2233118" cy="744855"/>
          </a:xfrm>
          <a:prstGeom prst="rect">
            <a:avLst/>
          </a:prstGeom>
        </p:spPr>
        <p:txBody>
          <a:bodyPr vert="horz" wrap="square" lIns="45720" tIns="12065" rIns="45720" bIns="0"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Linked List Chain</a:t>
            </a:r>
          </a:p>
        </p:txBody>
      </p:sp>
      <p:grpSp>
        <p:nvGrpSpPr>
          <p:cNvPr id="44" name="object 44"/>
          <p:cNvGrpSpPr/>
          <p:nvPr/>
        </p:nvGrpSpPr>
        <p:grpSpPr>
          <a:xfrm>
            <a:off x="8682800" y="5204526"/>
            <a:ext cx="2135907" cy="731184"/>
            <a:chOff x="8855650" y="5196527"/>
            <a:chExt cx="2841625" cy="988694"/>
          </a:xfrm>
        </p:grpSpPr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55650" y="5196527"/>
              <a:ext cx="2841263" cy="98851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900366" y="5221264"/>
              <a:ext cx="2751831" cy="89908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900366" y="5221264"/>
              <a:ext cx="2752090" cy="899160"/>
            </a:xfrm>
            <a:custGeom>
              <a:avLst/>
              <a:gdLst/>
              <a:ahLst/>
              <a:cxnLst/>
              <a:rect l="l" t="t" r="r" b="b"/>
              <a:pathLst>
                <a:path w="2752090" h="899160">
                  <a:moveTo>
                    <a:pt x="0" y="149850"/>
                  </a:moveTo>
                  <a:lnTo>
                    <a:pt x="7639" y="102486"/>
                  </a:lnTo>
                  <a:lnTo>
                    <a:pt x="28912" y="61350"/>
                  </a:lnTo>
                  <a:lnTo>
                    <a:pt x="61350" y="28912"/>
                  </a:lnTo>
                  <a:lnTo>
                    <a:pt x="102486" y="7639"/>
                  </a:lnTo>
                  <a:lnTo>
                    <a:pt x="149850" y="0"/>
                  </a:lnTo>
                  <a:lnTo>
                    <a:pt x="2601981" y="0"/>
                  </a:lnTo>
                  <a:lnTo>
                    <a:pt x="2659326" y="11406"/>
                  </a:lnTo>
                  <a:lnTo>
                    <a:pt x="2707941" y="43890"/>
                  </a:lnTo>
                  <a:lnTo>
                    <a:pt x="2740425" y="92505"/>
                  </a:lnTo>
                  <a:lnTo>
                    <a:pt x="2751831" y="149850"/>
                  </a:lnTo>
                  <a:lnTo>
                    <a:pt x="2751831" y="749234"/>
                  </a:lnTo>
                  <a:lnTo>
                    <a:pt x="2744192" y="796599"/>
                  </a:lnTo>
                  <a:lnTo>
                    <a:pt x="2722919" y="837734"/>
                  </a:lnTo>
                  <a:lnTo>
                    <a:pt x="2690480" y="870172"/>
                  </a:lnTo>
                  <a:lnTo>
                    <a:pt x="2649345" y="891445"/>
                  </a:lnTo>
                  <a:lnTo>
                    <a:pt x="2601981" y="899085"/>
                  </a:lnTo>
                  <a:lnTo>
                    <a:pt x="149850" y="899085"/>
                  </a:lnTo>
                  <a:lnTo>
                    <a:pt x="102486" y="891445"/>
                  </a:lnTo>
                  <a:lnTo>
                    <a:pt x="61350" y="870172"/>
                  </a:lnTo>
                  <a:lnTo>
                    <a:pt x="28912" y="837734"/>
                  </a:lnTo>
                  <a:lnTo>
                    <a:pt x="7639" y="796599"/>
                  </a:lnTo>
                  <a:lnTo>
                    <a:pt x="0" y="749234"/>
                  </a:lnTo>
                  <a:lnTo>
                    <a:pt x="0" y="149850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682800" y="5204526"/>
            <a:ext cx="2135907" cy="731184"/>
          </a:xfrm>
          <a:prstGeom prst="rect">
            <a:avLst/>
          </a:prstGeom>
        </p:spPr>
        <p:txBody>
          <a:bodyPr vert="horz" wrap="square" lIns="45720" tIns="12065" rIns="45720" bIns="0"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Calibri"/>
                <a:cs typeface="Calibri"/>
              </a:rPr>
              <a:t>Duplicate Groups List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3829032-692D-4103-CCDF-9BAA0578E57C}"/>
              </a:ext>
            </a:extLst>
          </p:cNvPr>
          <p:cNvCxnSpPr/>
          <p:nvPr/>
        </p:nvCxnSpPr>
        <p:spPr>
          <a:xfrm flipH="1">
            <a:off x="6000203" y="4284784"/>
            <a:ext cx="18698" cy="9117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6DB30E9-8B7F-9690-B04A-141211009A74}"/>
              </a:ext>
            </a:extLst>
          </p:cNvPr>
          <p:cNvCxnSpPr>
            <a:cxnSpLocks/>
          </p:cNvCxnSpPr>
          <p:nvPr/>
        </p:nvCxnSpPr>
        <p:spPr>
          <a:xfrm flipH="1" flipV="1">
            <a:off x="7049812" y="2240954"/>
            <a:ext cx="1657900" cy="83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1953E95-7577-72A5-730A-EA74D1C266D8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6000203" y="2643548"/>
            <a:ext cx="2" cy="867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65754ABB-591A-F8E1-251B-C7AA88F25E2A}"/>
              </a:ext>
            </a:extLst>
          </p:cNvPr>
          <p:cNvCxnSpPr>
            <a:cxnSpLocks/>
          </p:cNvCxnSpPr>
          <p:nvPr/>
        </p:nvCxnSpPr>
        <p:spPr>
          <a:xfrm>
            <a:off x="7130605" y="3881985"/>
            <a:ext cx="778730" cy="40279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5A49AA-9E03-4F66-2619-9D7FEE83B61F}"/>
              </a:ext>
            </a:extLst>
          </p:cNvPr>
          <p:cNvCxnSpPr>
            <a:cxnSpLocks/>
          </p:cNvCxnSpPr>
          <p:nvPr/>
        </p:nvCxnSpPr>
        <p:spPr>
          <a:xfrm>
            <a:off x="7519971" y="3531709"/>
            <a:ext cx="0" cy="4149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B8D4149-799F-FF8F-5104-7CE650196EAF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7519971" y="3534148"/>
            <a:ext cx="3893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9FD02E25-3F9B-0AF1-0509-5F32A7FA469C}"/>
              </a:ext>
            </a:extLst>
          </p:cNvPr>
          <p:cNvSpPr/>
          <p:nvPr/>
        </p:nvSpPr>
        <p:spPr>
          <a:xfrm>
            <a:off x="1289461" y="5245951"/>
            <a:ext cx="2157356" cy="701281"/>
          </a:xfrm>
          <a:prstGeom prst="round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/>
            <a:r>
              <a:rPr lang="en-US" dirty="0"/>
              <a:t>Display Result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82BEECE-5BCD-C59F-5759-602A5B6E7655}"/>
              </a:ext>
            </a:extLst>
          </p:cNvPr>
          <p:cNvCxnSpPr>
            <a:cxnSpLocks/>
          </p:cNvCxnSpPr>
          <p:nvPr/>
        </p:nvCxnSpPr>
        <p:spPr>
          <a:xfrm flipH="1">
            <a:off x="3491018" y="5586430"/>
            <a:ext cx="14224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23AF425-DA72-8D67-B5C6-1C1F824EEC91}"/>
              </a:ext>
            </a:extLst>
          </p:cNvPr>
          <p:cNvCxnSpPr>
            <a:cxnSpLocks/>
          </p:cNvCxnSpPr>
          <p:nvPr/>
        </p:nvCxnSpPr>
        <p:spPr>
          <a:xfrm flipV="1">
            <a:off x="7070131" y="5575539"/>
            <a:ext cx="1591942" cy="91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EF40FFE-B7B2-3290-B4F3-8A61EC8AADD5}"/>
              </a:ext>
            </a:extLst>
          </p:cNvPr>
          <p:cNvCxnSpPr>
            <a:cxnSpLocks/>
          </p:cNvCxnSpPr>
          <p:nvPr/>
        </p:nvCxnSpPr>
        <p:spPr>
          <a:xfrm>
            <a:off x="2766100" y="2249342"/>
            <a:ext cx="199593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32105" indent="46990">
              <a:lnSpc>
                <a:spcPts val="3820"/>
              </a:lnSpc>
              <a:spcBef>
                <a:spcPts val="215"/>
              </a:spcBef>
            </a:pPr>
            <a:r>
              <a:rPr sz="3200" dirty="0">
                <a:latin typeface="Arial"/>
                <a:cs typeface="Arial"/>
              </a:rPr>
              <a:t>Module 1: File Scanning &amp; Hash Indexing</a:t>
            </a:r>
          </a:p>
        </p:txBody>
      </p: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5255" y="2286000"/>
            <a:ext cx="4171244" cy="3231242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402191" y="2562924"/>
            <a:ext cx="3581400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File Scanner &amp; Indexer Module</a:t>
            </a: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34811" y="3069483"/>
            <a:ext cx="1839848" cy="85529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4234811" y="3069483"/>
            <a:ext cx="1839848" cy="855294"/>
          </a:xfrm>
          <a:prstGeom prst="rect">
            <a:avLst/>
          </a:prstGeom>
        </p:spPr>
        <p:txBody>
          <a:bodyPr vert="horz" wrap="square" lIns="45720" tIns="10795" rIns="45720" bIns="0" rtlCol="0" anchor="ctr"/>
          <a:lstStyle/>
          <a:p>
            <a:pPr marL="0" indent="0" algn="ctr">
              <a:lnSpc>
                <a:spcPct val="100600"/>
              </a:lnSpc>
              <a:spcBef>
                <a:spcPts val="8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Directory Traversal</a:t>
            </a:r>
          </a:p>
        </p:txBody>
      </p:sp>
      <p:grpSp>
        <p:nvGrpSpPr>
          <p:cNvPr id="36" name="object 36"/>
          <p:cNvGrpSpPr/>
          <p:nvPr/>
        </p:nvGrpSpPr>
        <p:grpSpPr>
          <a:xfrm>
            <a:off x="6256655" y="3048000"/>
            <a:ext cx="1814195" cy="944880"/>
            <a:chOff x="7005725" y="2540332"/>
            <a:chExt cx="1814195" cy="944880"/>
          </a:xfrm>
        </p:grpSpPr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05725" y="2540332"/>
              <a:ext cx="1814090" cy="94472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50441" y="2562072"/>
              <a:ext cx="1724658" cy="85529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050441" y="2562072"/>
              <a:ext cx="1724660" cy="855344"/>
            </a:xfrm>
            <a:custGeom>
              <a:avLst/>
              <a:gdLst/>
              <a:ahLst/>
              <a:cxnLst/>
              <a:rect l="l" t="t" r="r" b="b"/>
              <a:pathLst>
                <a:path w="1724659" h="855345">
                  <a:moveTo>
                    <a:pt x="0" y="142551"/>
                  </a:moveTo>
                  <a:lnTo>
                    <a:pt x="7267" y="97494"/>
                  </a:lnTo>
                  <a:lnTo>
                    <a:pt x="27504" y="58362"/>
                  </a:lnTo>
                  <a:lnTo>
                    <a:pt x="58362" y="27504"/>
                  </a:lnTo>
                  <a:lnTo>
                    <a:pt x="97494" y="7267"/>
                  </a:lnTo>
                  <a:lnTo>
                    <a:pt x="142552" y="0"/>
                  </a:lnTo>
                  <a:lnTo>
                    <a:pt x="1582106" y="0"/>
                  </a:lnTo>
                  <a:lnTo>
                    <a:pt x="1636658" y="10851"/>
                  </a:lnTo>
                  <a:lnTo>
                    <a:pt x="1682906" y="41752"/>
                  </a:lnTo>
                  <a:lnTo>
                    <a:pt x="1713807" y="87999"/>
                  </a:lnTo>
                  <a:lnTo>
                    <a:pt x="1724658" y="142551"/>
                  </a:lnTo>
                  <a:lnTo>
                    <a:pt x="1724658" y="712742"/>
                  </a:lnTo>
                  <a:lnTo>
                    <a:pt x="1717391" y="757799"/>
                  </a:lnTo>
                  <a:lnTo>
                    <a:pt x="1697154" y="796931"/>
                  </a:lnTo>
                  <a:lnTo>
                    <a:pt x="1666296" y="827789"/>
                  </a:lnTo>
                  <a:lnTo>
                    <a:pt x="1627164" y="848026"/>
                  </a:lnTo>
                  <a:lnTo>
                    <a:pt x="1582106" y="855294"/>
                  </a:lnTo>
                  <a:lnTo>
                    <a:pt x="142552" y="855294"/>
                  </a:lnTo>
                  <a:lnTo>
                    <a:pt x="97494" y="848026"/>
                  </a:lnTo>
                  <a:lnTo>
                    <a:pt x="58362" y="827789"/>
                  </a:lnTo>
                  <a:lnTo>
                    <a:pt x="27504" y="796931"/>
                  </a:lnTo>
                  <a:lnTo>
                    <a:pt x="7267" y="757799"/>
                  </a:lnTo>
                  <a:lnTo>
                    <a:pt x="0" y="712742"/>
                  </a:lnTo>
                  <a:lnTo>
                    <a:pt x="0" y="142551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256655" y="3048000"/>
            <a:ext cx="1814195" cy="944880"/>
          </a:xfrm>
          <a:prstGeom prst="rect">
            <a:avLst/>
          </a:prstGeom>
        </p:spPr>
        <p:txBody>
          <a:bodyPr vert="horz" wrap="square" lIns="45720" tIns="10795" rIns="45720" bIns="0" rtlCol="0" anchor="ctr"/>
          <a:lstStyle/>
          <a:p>
            <a:pPr marL="0" indent="0" algn="ctr">
              <a:lnSpc>
                <a:spcPct val="100600"/>
              </a:lnSpc>
              <a:spcBef>
                <a:spcPts val="85"/>
              </a:spcBef>
            </a:pPr>
            <a:r>
              <a:rPr lang="en-US" sz="1800" dirty="0">
                <a:solidFill>
                  <a:srgbClr val="FFFFFF"/>
                </a:solidFill>
                <a:latin typeface="Calibri"/>
                <a:cs typeface="Calibri"/>
              </a:rPr>
              <a:t>Hash Computation</a:t>
            </a:r>
          </a:p>
        </p:txBody>
      </p:sp>
      <p:grpSp>
        <p:nvGrpSpPr>
          <p:cNvPr id="41" name="object 41"/>
          <p:cNvGrpSpPr/>
          <p:nvPr/>
        </p:nvGrpSpPr>
        <p:grpSpPr>
          <a:xfrm>
            <a:off x="4234811" y="4267200"/>
            <a:ext cx="1931039" cy="912777"/>
            <a:chOff x="4995872" y="3747066"/>
            <a:chExt cx="1931039" cy="912777"/>
          </a:xfrm>
        </p:grpSpPr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5872" y="3747066"/>
              <a:ext cx="1931039" cy="91277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40588" y="3768806"/>
              <a:ext cx="1841608" cy="82334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040588" y="3768806"/>
              <a:ext cx="1842135" cy="823594"/>
            </a:xfrm>
            <a:custGeom>
              <a:avLst/>
              <a:gdLst/>
              <a:ahLst/>
              <a:cxnLst/>
              <a:rect l="l" t="t" r="r" b="b"/>
              <a:pathLst>
                <a:path w="1842134" h="823595">
                  <a:moveTo>
                    <a:pt x="0" y="137227"/>
                  </a:moveTo>
                  <a:lnTo>
                    <a:pt x="6995" y="93852"/>
                  </a:lnTo>
                  <a:lnTo>
                    <a:pt x="26476" y="56182"/>
                  </a:lnTo>
                  <a:lnTo>
                    <a:pt x="56182" y="26476"/>
                  </a:lnTo>
                  <a:lnTo>
                    <a:pt x="93852" y="6995"/>
                  </a:lnTo>
                  <a:lnTo>
                    <a:pt x="137226" y="0"/>
                  </a:lnTo>
                  <a:lnTo>
                    <a:pt x="1704381" y="0"/>
                  </a:lnTo>
                  <a:lnTo>
                    <a:pt x="1756896" y="10445"/>
                  </a:lnTo>
                  <a:lnTo>
                    <a:pt x="1801415" y="40192"/>
                  </a:lnTo>
                  <a:lnTo>
                    <a:pt x="1831162" y="84712"/>
                  </a:lnTo>
                  <a:lnTo>
                    <a:pt x="1841608" y="137227"/>
                  </a:lnTo>
                  <a:lnTo>
                    <a:pt x="1841608" y="686118"/>
                  </a:lnTo>
                  <a:lnTo>
                    <a:pt x="1834612" y="729492"/>
                  </a:lnTo>
                  <a:lnTo>
                    <a:pt x="1815131" y="767162"/>
                  </a:lnTo>
                  <a:lnTo>
                    <a:pt x="1785425" y="796868"/>
                  </a:lnTo>
                  <a:lnTo>
                    <a:pt x="1747755" y="816349"/>
                  </a:lnTo>
                  <a:lnTo>
                    <a:pt x="1704381" y="823345"/>
                  </a:lnTo>
                  <a:lnTo>
                    <a:pt x="137226" y="823345"/>
                  </a:lnTo>
                  <a:lnTo>
                    <a:pt x="93852" y="816349"/>
                  </a:lnTo>
                  <a:lnTo>
                    <a:pt x="56182" y="796868"/>
                  </a:lnTo>
                  <a:lnTo>
                    <a:pt x="26476" y="767162"/>
                  </a:lnTo>
                  <a:lnTo>
                    <a:pt x="6995" y="729492"/>
                  </a:lnTo>
                  <a:lnTo>
                    <a:pt x="0" y="686118"/>
                  </a:lnTo>
                  <a:lnTo>
                    <a:pt x="0" y="137227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234811" y="4267200"/>
            <a:ext cx="1931039" cy="912777"/>
          </a:xfrm>
          <a:prstGeom prst="rect">
            <a:avLst/>
          </a:prstGeom>
        </p:spPr>
        <p:txBody>
          <a:bodyPr vert="horz" wrap="square" lIns="45720" tIns="10795" rIns="45720" bIns="0" rtlCol="0" anchor="ctr"/>
          <a:lstStyle/>
          <a:p>
            <a:pPr marL="0" indent="0" algn="ctr">
              <a:lnSpc>
                <a:spcPct val="100600"/>
              </a:lnSpc>
              <a:spcBef>
                <a:spcPts val="8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Hash Table Insert</a:t>
            </a:r>
          </a:p>
        </p:txBody>
      </p:sp>
      <p:grpSp>
        <p:nvGrpSpPr>
          <p:cNvPr id="46" name="object 46"/>
          <p:cNvGrpSpPr/>
          <p:nvPr/>
        </p:nvGrpSpPr>
        <p:grpSpPr>
          <a:xfrm>
            <a:off x="6242050" y="4267200"/>
            <a:ext cx="1812289" cy="921385"/>
            <a:chOff x="7005725" y="3744721"/>
            <a:chExt cx="1812289" cy="921385"/>
          </a:xfrm>
        </p:grpSpPr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05725" y="3744721"/>
              <a:ext cx="1811744" cy="92127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50441" y="3766461"/>
              <a:ext cx="1722312" cy="83184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050441" y="3766461"/>
              <a:ext cx="1722755" cy="831850"/>
            </a:xfrm>
            <a:custGeom>
              <a:avLst/>
              <a:gdLst/>
              <a:ahLst/>
              <a:cxnLst/>
              <a:rect l="l" t="t" r="r" b="b"/>
              <a:pathLst>
                <a:path w="1722754" h="831850">
                  <a:moveTo>
                    <a:pt x="0" y="138643"/>
                  </a:moveTo>
                  <a:lnTo>
                    <a:pt x="7068" y="94821"/>
                  </a:lnTo>
                  <a:lnTo>
                    <a:pt x="26750" y="56762"/>
                  </a:lnTo>
                  <a:lnTo>
                    <a:pt x="56762" y="26750"/>
                  </a:lnTo>
                  <a:lnTo>
                    <a:pt x="94821" y="7068"/>
                  </a:lnTo>
                  <a:lnTo>
                    <a:pt x="138643" y="0"/>
                  </a:lnTo>
                  <a:lnTo>
                    <a:pt x="1583668" y="0"/>
                  </a:lnTo>
                  <a:lnTo>
                    <a:pt x="1636725" y="10553"/>
                  </a:lnTo>
                  <a:lnTo>
                    <a:pt x="1681704" y="40607"/>
                  </a:lnTo>
                  <a:lnTo>
                    <a:pt x="1711758" y="85586"/>
                  </a:lnTo>
                  <a:lnTo>
                    <a:pt x="1722312" y="138643"/>
                  </a:lnTo>
                  <a:lnTo>
                    <a:pt x="1722312" y="693201"/>
                  </a:lnTo>
                  <a:lnTo>
                    <a:pt x="1715244" y="737023"/>
                  </a:lnTo>
                  <a:lnTo>
                    <a:pt x="1695562" y="775082"/>
                  </a:lnTo>
                  <a:lnTo>
                    <a:pt x="1665549" y="805094"/>
                  </a:lnTo>
                  <a:lnTo>
                    <a:pt x="1627490" y="824776"/>
                  </a:lnTo>
                  <a:lnTo>
                    <a:pt x="1583668" y="831844"/>
                  </a:lnTo>
                  <a:lnTo>
                    <a:pt x="138643" y="831844"/>
                  </a:lnTo>
                  <a:lnTo>
                    <a:pt x="94821" y="824776"/>
                  </a:lnTo>
                  <a:lnTo>
                    <a:pt x="56762" y="805094"/>
                  </a:lnTo>
                  <a:lnTo>
                    <a:pt x="26750" y="775082"/>
                  </a:lnTo>
                  <a:lnTo>
                    <a:pt x="7068" y="737023"/>
                  </a:lnTo>
                  <a:lnTo>
                    <a:pt x="0" y="693201"/>
                  </a:lnTo>
                  <a:lnTo>
                    <a:pt x="0" y="138643"/>
                  </a:lnTo>
                  <a:close/>
                </a:path>
              </a:pathLst>
            </a:custGeom>
            <a:ln w="9515">
              <a:solidFill>
                <a:srgbClr val="4A7D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242050" y="4267200"/>
            <a:ext cx="1812289" cy="921385"/>
          </a:xfrm>
          <a:prstGeom prst="rect">
            <a:avLst/>
          </a:prstGeom>
        </p:spPr>
        <p:txBody>
          <a:bodyPr vert="horz" wrap="square" lIns="45720" tIns="10795" rIns="45720" bIns="0" rtlCol="0" anchor="ctr"/>
          <a:lstStyle/>
          <a:p>
            <a:pPr marL="0" indent="0" algn="ctr">
              <a:lnSpc>
                <a:spcPct val="100600"/>
              </a:lnSpc>
              <a:spcBef>
                <a:spcPts val="8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Byte-by-Byte Check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47AC503-D78F-97CA-AFB6-A9F89CC2DEB9}"/>
              </a:ext>
            </a:extLst>
          </p:cNvPr>
          <p:cNvSpPr/>
          <p:nvPr/>
        </p:nvSpPr>
        <p:spPr>
          <a:xfrm>
            <a:off x="921931" y="1905000"/>
            <a:ext cx="1967319" cy="94687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BCB8B24-C11A-D42F-2062-CE357CC4560E}"/>
              </a:ext>
            </a:extLst>
          </p:cNvPr>
          <p:cNvSpPr/>
          <p:nvPr/>
        </p:nvSpPr>
        <p:spPr>
          <a:xfrm>
            <a:off x="9290050" y="4038600"/>
            <a:ext cx="1981200" cy="944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600"/>
              </a:lnSpc>
              <a:spcBef>
                <a:spcPts val="85"/>
              </a:spcBef>
            </a:pPr>
            <a:r>
              <a:rPr lang="en-US" dirty="0">
                <a:solidFill>
                  <a:schemeClr val="tx1"/>
                </a:solidFill>
                <a:cs typeface="Calibri"/>
              </a:rPr>
              <a:t>File Index (Hash Table)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9546559-64F4-2493-25C5-30A8A1464F51}"/>
              </a:ext>
            </a:extLst>
          </p:cNvPr>
          <p:cNvSpPr/>
          <p:nvPr/>
        </p:nvSpPr>
        <p:spPr>
          <a:xfrm>
            <a:off x="9290050" y="1828800"/>
            <a:ext cx="1981200" cy="96375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/>
            <a:r>
              <a:rPr lang="en-US" dirty="0">
                <a:cs typeface="Calibri"/>
              </a:rPr>
              <a:t>Scan Summary Report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AFD20DBC-792A-2BF1-936B-47873227F4EB}"/>
              </a:ext>
            </a:extLst>
          </p:cNvPr>
          <p:cNvSpPr/>
          <p:nvPr/>
        </p:nvSpPr>
        <p:spPr>
          <a:xfrm>
            <a:off x="921931" y="4191000"/>
            <a:ext cx="1967319" cy="9447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600"/>
              </a:lnSpc>
              <a:spcBef>
                <a:spcPts val="85"/>
              </a:spcBef>
            </a:pPr>
            <a:r>
              <a:rPr lang="en-US" dirty="0">
                <a:cs typeface="Calibri"/>
              </a:rPr>
              <a:t>Select Folder Path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AF42B2C-1982-0DD4-EF68-4BA833A12E89}"/>
              </a:ext>
            </a:extLst>
          </p:cNvPr>
          <p:cNvCxnSpPr>
            <a:cxnSpLocks/>
          </p:cNvCxnSpPr>
          <p:nvPr/>
        </p:nvCxnSpPr>
        <p:spPr>
          <a:xfrm flipV="1">
            <a:off x="1898650" y="5257646"/>
            <a:ext cx="0" cy="7621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46838E-6207-4042-497E-C94257581689}"/>
              </a:ext>
            </a:extLst>
          </p:cNvPr>
          <p:cNvCxnSpPr/>
          <p:nvPr/>
        </p:nvCxnSpPr>
        <p:spPr>
          <a:xfrm>
            <a:off x="1905590" y="6019800"/>
            <a:ext cx="32947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0740488-4945-D969-8451-4D8156FCD25B}"/>
              </a:ext>
            </a:extLst>
          </p:cNvPr>
          <p:cNvCxnSpPr>
            <a:cxnSpLocks/>
          </p:cNvCxnSpPr>
          <p:nvPr/>
        </p:nvCxnSpPr>
        <p:spPr>
          <a:xfrm>
            <a:off x="7004050" y="6019800"/>
            <a:ext cx="3276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E9761B-AD06-75F8-A619-3F859E375855}"/>
              </a:ext>
            </a:extLst>
          </p:cNvPr>
          <p:cNvCxnSpPr/>
          <p:nvPr/>
        </p:nvCxnSpPr>
        <p:spPr>
          <a:xfrm flipV="1">
            <a:off x="10280650" y="5120784"/>
            <a:ext cx="0" cy="89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1D19E3-D580-F073-8414-34B565BF47E1}"/>
              </a:ext>
            </a:extLst>
          </p:cNvPr>
          <p:cNvCxnSpPr/>
          <p:nvPr/>
        </p:nvCxnSpPr>
        <p:spPr>
          <a:xfrm flipV="1">
            <a:off x="10280650" y="2990611"/>
            <a:ext cx="0" cy="876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E5C359-FC69-8079-B01B-F0CB4B9FF3A5}"/>
              </a:ext>
            </a:extLst>
          </p:cNvPr>
          <p:cNvCxnSpPr>
            <a:cxnSpLocks/>
          </p:cNvCxnSpPr>
          <p:nvPr/>
        </p:nvCxnSpPr>
        <p:spPr>
          <a:xfrm>
            <a:off x="1905590" y="3021091"/>
            <a:ext cx="6940" cy="10479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69188F-CB98-B004-7965-8300CCA2688D}"/>
              </a:ext>
            </a:extLst>
          </p:cNvPr>
          <p:cNvCxnSpPr/>
          <p:nvPr/>
        </p:nvCxnSpPr>
        <p:spPr>
          <a:xfrm flipV="1">
            <a:off x="7004050" y="5517242"/>
            <a:ext cx="0" cy="502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A7BF6C-1C71-6B63-01AD-2EF73F2DE73D}"/>
              </a:ext>
            </a:extLst>
          </p:cNvPr>
          <p:cNvCxnSpPr/>
          <p:nvPr/>
        </p:nvCxnSpPr>
        <p:spPr>
          <a:xfrm flipV="1">
            <a:off x="5200330" y="5517242"/>
            <a:ext cx="0" cy="502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242" rIns="0" bIns="0" rtlCol="0">
            <a:spAutoFit/>
          </a:bodyPr>
          <a:lstStyle/>
          <a:p>
            <a:pPr marL="731520" indent="-419100">
              <a:lnSpc>
                <a:spcPts val="3820"/>
              </a:lnSpc>
              <a:spcBef>
                <a:spcPts val="215"/>
              </a:spcBef>
            </a:pPr>
            <a:r>
              <a:rPr sz="3200" dirty="0">
                <a:latin typeface="Arial"/>
                <a:cs typeface="Arial"/>
              </a:rPr>
              <a:t>Module 2 : Duplicate Detection &amp; Cleanup Management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10BC30E-F82F-41DE-0261-B1EE71A9868A}"/>
              </a:ext>
            </a:extLst>
          </p:cNvPr>
          <p:cNvSpPr/>
          <p:nvPr/>
        </p:nvSpPr>
        <p:spPr>
          <a:xfrm>
            <a:off x="1100511" y="2067342"/>
            <a:ext cx="2863831" cy="980035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/>
            <a:r>
              <a:rPr lang="en-US" sz="2000" dirty="0">
                <a:solidFill>
                  <a:schemeClr val="tx1"/>
                </a:solidFill>
              </a:rPr>
              <a:t>User (CLI)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9350018-E7F7-EA02-E8F2-6B3A8DDC0637}"/>
              </a:ext>
            </a:extLst>
          </p:cNvPr>
          <p:cNvSpPr/>
          <p:nvPr/>
        </p:nvSpPr>
        <p:spPr>
          <a:xfrm>
            <a:off x="1079466" y="4768489"/>
            <a:ext cx="2858539" cy="98003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/>
            <a:r>
              <a:rPr lang="en-US" sz="2000" dirty="0"/>
              <a:t>Cleanup Manager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0EC36514-4051-29E3-209F-A0EA553F9A51}"/>
              </a:ext>
            </a:extLst>
          </p:cNvPr>
          <p:cNvSpPr/>
          <p:nvPr/>
        </p:nvSpPr>
        <p:spPr>
          <a:xfrm>
            <a:off x="8504313" y="2066658"/>
            <a:ext cx="2863831" cy="980719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/>
            <a:r>
              <a:rPr lang="en-US" sz="2000" dirty="0"/>
              <a:t>Byte-by-Byte Verifier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2F3879BC-4654-FA4B-47D6-84B1C54D2B0D}"/>
              </a:ext>
            </a:extLst>
          </p:cNvPr>
          <p:cNvSpPr/>
          <p:nvPr/>
        </p:nvSpPr>
        <p:spPr>
          <a:xfrm>
            <a:off x="8576935" y="4765326"/>
            <a:ext cx="2843137" cy="9800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cs typeface="Calibri"/>
              </a:rPr>
              <a:t>Duplicate Groups Store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89653B2C-1BDA-D360-849D-9E30080B487E}"/>
              </a:ext>
            </a:extLst>
          </p:cNvPr>
          <p:cNvSpPr/>
          <p:nvPr/>
        </p:nvSpPr>
        <p:spPr>
          <a:xfrm>
            <a:off x="4807613" y="2066658"/>
            <a:ext cx="2853429" cy="955271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lnSpc>
                <a:spcPct val="100000"/>
              </a:lnSpc>
              <a:spcBef>
                <a:spcPts val="95"/>
              </a:spcBef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/>
              </a:rPr>
              <a:t>Report Generator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5D51C175-E9F8-7A17-6E65-893C20C41F45}"/>
              </a:ext>
            </a:extLst>
          </p:cNvPr>
          <p:cNvSpPr/>
          <p:nvPr/>
        </p:nvSpPr>
        <p:spPr>
          <a:xfrm>
            <a:off x="4893828" y="3978776"/>
            <a:ext cx="2713647" cy="255945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01E93A17-47E9-D999-3B80-75ADD05B779D}"/>
              </a:ext>
            </a:extLst>
          </p:cNvPr>
          <p:cNvSpPr/>
          <p:nvPr/>
        </p:nvSpPr>
        <p:spPr>
          <a:xfrm>
            <a:off x="5183851" y="5185897"/>
            <a:ext cx="2133600" cy="106680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Hash Table + Chains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E4F51F0-A601-30EA-3A84-977A32701F3B}"/>
              </a:ext>
            </a:extLst>
          </p:cNvPr>
          <p:cNvSpPr txBox="1"/>
          <p:nvPr/>
        </p:nvSpPr>
        <p:spPr>
          <a:xfrm>
            <a:off x="5450551" y="4406223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/>
            <a:r>
              <a:rPr lang="en-US" sz="2400" dirty="0">
                <a:latin typeface="+mn-lt"/>
              </a:rPr>
              <a:t>Detection Engine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C2F08E-4650-82C8-BFFC-0231440F3A5F}"/>
              </a:ext>
            </a:extLst>
          </p:cNvPr>
          <p:cNvCxnSpPr/>
          <p:nvPr/>
        </p:nvCxnSpPr>
        <p:spPr>
          <a:xfrm>
            <a:off x="8070850" y="2557017"/>
            <a:ext cx="0" cy="13636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CCA455-C50E-FF98-EB65-C07B2C37ED71}"/>
              </a:ext>
            </a:extLst>
          </p:cNvPr>
          <p:cNvCxnSpPr/>
          <p:nvPr/>
        </p:nvCxnSpPr>
        <p:spPr>
          <a:xfrm>
            <a:off x="8070850" y="3920621"/>
            <a:ext cx="186537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CCD32D2-BD3E-F3E2-2708-074F2C46FB9D}"/>
              </a:ext>
            </a:extLst>
          </p:cNvPr>
          <p:cNvCxnSpPr/>
          <p:nvPr/>
        </p:nvCxnSpPr>
        <p:spPr>
          <a:xfrm flipH="1">
            <a:off x="7661042" y="2544293"/>
            <a:ext cx="409808" cy="127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FF04E24-ED2F-D74B-057D-8F8B1671C929}"/>
              </a:ext>
            </a:extLst>
          </p:cNvPr>
          <p:cNvCxnSpPr/>
          <p:nvPr/>
        </p:nvCxnSpPr>
        <p:spPr>
          <a:xfrm>
            <a:off x="9936228" y="3920621"/>
            <a:ext cx="0" cy="8447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13BD9B9-20A0-DF2D-C884-46EC70986C19}"/>
              </a:ext>
            </a:extLst>
          </p:cNvPr>
          <p:cNvCxnSpPr/>
          <p:nvPr/>
        </p:nvCxnSpPr>
        <p:spPr>
          <a:xfrm>
            <a:off x="8070850" y="3920621"/>
            <a:ext cx="0" cy="13347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838DE7-DF4D-972B-B129-8FC55EF9B59B}"/>
              </a:ext>
            </a:extLst>
          </p:cNvPr>
          <p:cNvCxnSpPr>
            <a:endCxn id="141" idx="3"/>
          </p:cNvCxnSpPr>
          <p:nvPr/>
        </p:nvCxnSpPr>
        <p:spPr>
          <a:xfrm flipH="1">
            <a:off x="7607475" y="5255344"/>
            <a:ext cx="463375" cy="3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9BED004-F553-EACA-484A-AF0B72C3A94A}"/>
              </a:ext>
            </a:extLst>
          </p:cNvPr>
          <p:cNvCxnSpPr>
            <a:cxnSpLocks/>
          </p:cNvCxnSpPr>
          <p:nvPr/>
        </p:nvCxnSpPr>
        <p:spPr>
          <a:xfrm flipV="1">
            <a:off x="9942370" y="3047377"/>
            <a:ext cx="0" cy="881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343C74-7DB2-6B26-1086-C156CD5658A4}"/>
              </a:ext>
            </a:extLst>
          </p:cNvPr>
          <p:cNvCxnSpPr>
            <a:stCxn id="98" idx="1"/>
            <a:endCxn id="82" idx="3"/>
          </p:cNvCxnSpPr>
          <p:nvPr/>
        </p:nvCxnSpPr>
        <p:spPr>
          <a:xfrm flipH="1">
            <a:off x="3964342" y="2544294"/>
            <a:ext cx="843271" cy="130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8C7A595-B31B-21C0-D544-99A57C52CADD}"/>
              </a:ext>
            </a:extLst>
          </p:cNvPr>
          <p:cNvCxnSpPr>
            <a:cxnSpLocks/>
          </p:cNvCxnSpPr>
          <p:nvPr/>
        </p:nvCxnSpPr>
        <p:spPr>
          <a:xfrm>
            <a:off x="4385977" y="2550655"/>
            <a:ext cx="0" cy="27046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E5CD5FB-1C41-2F5A-98E5-B938E5F3F138}"/>
              </a:ext>
            </a:extLst>
          </p:cNvPr>
          <p:cNvCxnSpPr>
            <a:cxnSpLocks/>
          </p:cNvCxnSpPr>
          <p:nvPr/>
        </p:nvCxnSpPr>
        <p:spPr>
          <a:xfrm flipH="1">
            <a:off x="3936238" y="5255344"/>
            <a:ext cx="4497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C88CEA0-2756-12B4-6895-27BF86549089}"/>
              </a:ext>
            </a:extLst>
          </p:cNvPr>
          <p:cNvCxnSpPr>
            <a:endCxn id="141" idx="1"/>
          </p:cNvCxnSpPr>
          <p:nvPr/>
        </p:nvCxnSpPr>
        <p:spPr>
          <a:xfrm>
            <a:off x="4385977" y="5255344"/>
            <a:ext cx="507851" cy="3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4BF3A0E-3329-EC37-737A-6BA8CB365911}"/>
              </a:ext>
            </a:extLst>
          </p:cNvPr>
          <p:cNvCxnSpPr>
            <a:cxnSpLocks/>
          </p:cNvCxnSpPr>
          <p:nvPr/>
        </p:nvCxnSpPr>
        <p:spPr>
          <a:xfrm flipH="1" flipV="1">
            <a:off x="2532426" y="3895245"/>
            <a:ext cx="1853551" cy="253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11B39ED-F879-0622-ECBB-263CB044AB6B}"/>
              </a:ext>
            </a:extLst>
          </p:cNvPr>
          <p:cNvCxnSpPr>
            <a:cxnSpLocks/>
            <a:endCxn id="82" idx="2"/>
          </p:cNvCxnSpPr>
          <p:nvPr/>
        </p:nvCxnSpPr>
        <p:spPr>
          <a:xfrm flipV="1">
            <a:off x="2532426" y="3047377"/>
            <a:ext cx="1" cy="8291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1050" y="0"/>
            <a:ext cx="6943570" cy="672656"/>
          </a:xfrm>
          <a:prstGeom prst="rect">
            <a:avLst/>
          </a:prstGeom>
        </p:spPr>
        <p:txBody>
          <a:bodyPr vert="horz" wrap="square" lIns="0" tIns="178471" rIns="0" bIns="0" rtlCol="0" anchor="ctr">
            <a:spAutoFit/>
          </a:bodyPr>
          <a:lstStyle/>
          <a:p>
            <a:pPr marL="1632585" algn="l">
              <a:lnSpc>
                <a:spcPct val="100000"/>
              </a:lnSpc>
              <a:spcBef>
                <a:spcPts val="95"/>
              </a:spcBef>
            </a:pPr>
            <a:r>
              <a:rPr sz="3200" spc="-10" dirty="0"/>
              <a:t>Implementation</a:t>
            </a:r>
            <a:r>
              <a:rPr lang="en-US" sz="3200" spc="-10" dirty="0"/>
              <a:t> – Module 1</a:t>
            </a:r>
            <a:endParaRPr sz="3200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D98BA-204D-0CC9-EAED-0D726F00C478}"/>
              </a:ext>
            </a:extLst>
          </p:cNvPr>
          <p:cNvSpPr txBox="1"/>
          <p:nvPr/>
        </p:nvSpPr>
        <p:spPr>
          <a:xfrm>
            <a:off x="2651280" y="845403"/>
            <a:ext cx="6943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/>
                <a:cs typeface="Arial"/>
              </a:rPr>
              <a:t>File Scanning &amp; Hash Indexing</a:t>
            </a:r>
          </a:p>
        </p:txBody>
      </p:sp>
      <p:sp>
        <p:nvSpPr>
          <p:cNvPr id="8" name="Code - Module 1"/>
          <p:cNvSpPr/>
          <p:nvPr/>
        </p:nvSpPr>
        <p:spPr>
          <a:xfrm>
            <a:off x="465250" y="1808454"/>
            <a:ext cx="5368152" cy="48581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90000" rIns="120000" bIns="90000" rtlCol="0" anchor="t"/>
          <a:lstStyle/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typedef struct Entry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unsigned long long hash;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long size;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PathNode *paths;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int count;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struct Entry *next;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} Entry;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static unsigned long long fnv1a(const char *p, long *size)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FILE *f = fopen(p, "rb");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unsigned long long h = 14695981039346656037ULL;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unsigned char buf[4096];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size_t n, i;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*size = 0;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if (!f) return 0;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while ((n = fread(buf, 1, sizeof buf, f)) &gt; 0)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    for (i = 0; i &lt; n; i++) {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        h ^= buf[i];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        h *= 1099511628211ULL;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    *size += (long)n;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fclose(f);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   return h;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9" name="Output - Module 1"/>
          <p:cNvSpPr/>
          <p:nvPr/>
        </p:nvSpPr>
        <p:spPr>
          <a:xfrm>
            <a:off x="6216367" y="1808454"/>
            <a:ext cx="5556505" cy="48581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90000" rIns="120000" bIns="90000" rtlCol="0" anchor="t"/>
          <a:lstStyle/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$ find testdir -type f | sort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testdir/backup/b.txt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testdir/backup/img1_backup.bin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testdir/backup/notes_copy.txt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testdir/backup/report_old.txt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testdir/docs/a.txt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testdir/docs/notes.txt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testdir/docs/report.txt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testdir/docs/report_v2.txt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testdir/photos/img1.bin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testdir/photos/renamed_notes.dat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$ ./dfd testdir</a:t>
            </a:r>
          </a:p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Scanning: testdir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...</a:t>
            </a:r>
          </a:p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Files scanned    :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1451FAEA-9D0B-76BB-69C6-1ACAB05764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D19DCE70-6C8C-AAC4-F3C6-A9A164C1E6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1C78B1-89D8-C8F1-CE09-6B6F74C18325}"/>
              </a:ext>
            </a:extLst>
          </p:cNvPr>
          <p:cNvSpPr txBox="1"/>
          <p:nvPr/>
        </p:nvSpPr>
        <p:spPr>
          <a:xfrm>
            <a:off x="3346450" y="36286"/>
            <a:ext cx="60887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-10" dirty="0"/>
              <a:t>Implementation – Module 2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9A18CF-358D-F38B-241D-5BD6A01185C4}"/>
              </a:ext>
            </a:extLst>
          </p:cNvPr>
          <p:cNvSpPr txBox="1"/>
          <p:nvPr/>
        </p:nvSpPr>
        <p:spPr>
          <a:xfrm>
            <a:off x="3422650" y="698284"/>
            <a:ext cx="533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/>
                <a:cs typeface="Arial"/>
              </a:rPr>
              <a:t>Duplicate Detection &amp; Cleanup Management</a:t>
            </a:r>
          </a:p>
        </p:txBody>
      </p:sp>
      <p:sp>
        <p:nvSpPr>
          <p:cNvPr id="11" name="Code - Module 2"/>
          <p:cNvSpPr/>
          <p:nvPr/>
        </p:nvSpPr>
        <p:spPr>
          <a:xfrm>
            <a:off x="356978" y="1756370"/>
            <a:ext cx="5732671" cy="491020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90000" rIns="120000" bIns="90000" rtlCol="0" anchor="t"/>
          <a:lstStyle/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static void insert(const char *path) {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long size;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unsigned long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long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 h = fnv1a(path, &amp;size);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unsigned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idx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 = (unsigned)(h % BUCKETS);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Entry *e;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files_scanned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++;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for (e = table[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idx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]; e; e = e-&gt;next)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    if (e-&gt;hash == h &amp;&amp; e-&gt;size == size &amp;&amp;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same_bytes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(e-&gt;paths-&gt;path, path)) {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       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add_path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(e, path);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        wasted += size;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        return;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    }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e =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calloc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(1,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sizeof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 *e);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e-&gt;hash = h; e-&gt;size = size;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e-&gt;next = table[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idx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]; table[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idx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] = e;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add_path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(e, path);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}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static int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same_bytes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(const char *a, const char *b) {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FILE *fa =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fopen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(a, "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rb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"), *fb =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fopen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(b, "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rb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");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int ok = (fa &amp;&amp; fb), ca,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cb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while (ok &amp;&amp; (ca =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fgetc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(fa)) != EOF) {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   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cb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 =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fgetc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(fb);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    if (ca !=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cb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) ok = 0;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if (ok &amp;&amp;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fgetc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(fb) != EOF) ok = 0;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if (fa)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fclose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(fa);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if (fb) </a:t>
            </a:r>
            <a:r>
              <a:rPr sz="1000" dirty="0" err="1">
                <a:solidFill>
                  <a:srgbClr val="D4D4D4"/>
                </a:solidFill>
                <a:latin typeface="Courier New"/>
              </a:rPr>
              <a:t>fclose</a:t>
            </a:r>
            <a:r>
              <a:rPr sz="1000" dirty="0">
                <a:solidFill>
                  <a:srgbClr val="D4D4D4"/>
                </a:solidFill>
                <a:latin typeface="Courier New"/>
              </a:rPr>
              <a:t>(fb);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    return ok;</a:t>
            </a:r>
          </a:p>
          <a:p>
            <a:pPr algn="l"/>
            <a:r>
              <a:rPr sz="1000" dirty="0">
                <a:solidFill>
                  <a:srgbClr val="D4D4D4"/>
                </a:solidFill>
                <a:latin typeface="Courier New"/>
              </a:rPr>
              <a:t>}</a:t>
            </a:r>
          </a:p>
        </p:txBody>
      </p:sp>
      <p:sp>
        <p:nvSpPr>
          <p:cNvPr id="12" name="Output - Module 2"/>
          <p:cNvSpPr/>
          <p:nvPr/>
        </p:nvSpPr>
        <p:spPr>
          <a:xfrm>
            <a:off x="6394450" y="1756368"/>
            <a:ext cx="5334000" cy="4910204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90000" rIns="120000" bIns="90000" rtlCol="0" anchor="t"/>
          <a:lstStyle/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$ ./dfd testdir</a:t>
            </a:r>
          </a:p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Scanning: testdir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DCDCAA"/>
                </a:solidFill>
                <a:latin typeface="Courier New"/>
              </a:rPr>
              <a:t>Group 1  (49 bytes, 3 copies)</a:t>
            </a:r>
          </a:p>
          <a:p>
            <a:pPr algn="l"/>
            <a:r>
              <a:rPr sz="1100">
                <a:solidFill>
                  <a:srgbClr val="89D185"/>
                </a:solidFill>
                <a:latin typeface="Courier New"/>
              </a:rPr>
              <a:t>  [KEEP] testdir/backup/notes_copy.txt</a:t>
            </a:r>
          </a:p>
          <a:p>
            <a:pPr algn="l"/>
            <a:r>
              <a:rPr sz="1100">
                <a:solidFill>
                  <a:srgbClr val="F2A65A"/>
                </a:solidFill>
                <a:latin typeface="Courier New"/>
              </a:rPr>
              <a:t>  [DUP]  testdir/docs/notes.txt</a:t>
            </a:r>
          </a:p>
          <a:p>
            <a:pPr algn="l"/>
            <a:r>
              <a:rPr sz="1100">
                <a:solidFill>
                  <a:srgbClr val="F2A65A"/>
                </a:solidFill>
                <a:latin typeface="Courier New"/>
              </a:rPr>
              <a:t>  [DUP]  testdir/photos/renamed_notes.dat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DCDCAA"/>
                </a:solidFill>
                <a:latin typeface="Courier New"/>
              </a:rPr>
              <a:t>Group 2  (25 bytes, 2 copies)</a:t>
            </a:r>
          </a:p>
          <a:p>
            <a:pPr algn="l"/>
            <a:r>
              <a:rPr sz="1100">
                <a:solidFill>
                  <a:srgbClr val="89D185"/>
                </a:solidFill>
                <a:latin typeface="Courier New"/>
              </a:rPr>
              <a:t>  [KEEP] testdir/backup/report_old.txt</a:t>
            </a:r>
          </a:p>
          <a:p>
            <a:pPr algn="l"/>
            <a:r>
              <a:rPr sz="1100">
                <a:solidFill>
                  <a:srgbClr val="F2A65A"/>
                </a:solidFill>
                <a:latin typeface="Courier New"/>
              </a:rPr>
              <a:t>  [DUP]  testdir/docs/report.txt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DCDCAA"/>
                </a:solidFill>
                <a:latin typeface="Courier New"/>
              </a:rPr>
              <a:t>Group 3  (20000 bytes, 2 copies)</a:t>
            </a:r>
          </a:p>
          <a:p>
            <a:pPr algn="l"/>
            <a:r>
              <a:rPr sz="1100">
                <a:solidFill>
                  <a:srgbClr val="89D185"/>
                </a:solidFill>
                <a:latin typeface="Courier New"/>
              </a:rPr>
              <a:t>  [KEEP] testdir/backup/img1_backup.bin</a:t>
            </a:r>
          </a:p>
          <a:p>
            <a:pPr algn="l"/>
            <a:r>
              <a:rPr sz="1100">
                <a:solidFill>
                  <a:srgbClr val="F2A65A"/>
                </a:solidFill>
                <a:latin typeface="Courier New"/>
              </a:rPr>
              <a:t>  [DUP]  testdir/photos/img1.bin</a:t>
            </a:r>
          </a:p>
          <a:p>
            <a:pPr algn="l"/>
            <a:r>
              <a:rPr sz="1100">
                <a:solidFill>
                  <a:srgbClr val="D4D4D4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Files scanned    : 10</a:t>
            </a:r>
          </a:p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Duplicate sets   : 3</a:t>
            </a:r>
          </a:p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Duplicate files  : 4</a:t>
            </a:r>
          </a:p>
          <a:p>
            <a:pPr algn="l"/>
            <a:r>
              <a:rPr sz="1100">
                <a:solidFill>
                  <a:srgbClr val="9CDCFE"/>
                </a:solidFill>
                <a:latin typeface="Courier New"/>
              </a:rPr>
              <a:t>Space reclaimable: 20123 bytes</a:t>
            </a:r>
          </a:p>
        </p:txBody>
      </p:sp>
    </p:spTree>
    <p:extLst>
      <p:ext uri="{BB962C8B-B14F-4D97-AF65-F5344CB8AC3E}">
        <p14:creationId xmlns:p14="http://schemas.microsoft.com/office/powerpoint/2010/main" val="101874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973455">
              <a:lnSpc>
                <a:spcPct val="100000"/>
              </a:lnSpc>
              <a:spcBef>
                <a:spcPts val="95"/>
              </a:spcBef>
            </a:pPr>
            <a:r>
              <a:rPr dirty="0"/>
              <a:t>Results</a:t>
            </a:r>
            <a:r>
              <a:rPr spc="-90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-10" dirty="0"/>
              <a:t>Discussion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134" y="1861330"/>
            <a:ext cx="9933940" cy="40811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indent="-378460">
              <a:lnSpc>
                <a:spcPct val="101499"/>
              </a:lnSpc>
              <a:spcBef>
                <a:spcPts val="40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Detection accuracy: </a:t>
            </a:r>
            <a:r>
              <a:rPr sz="3200" dirty="0">
                <a:latin typeface="Calibri"/>
                <a:cs typeface="Calibri"/>
              </a:rPr>
              <a:t>On a 10-file test folder the system found all 3 duplicate sets (4 duplicate files), including a renamed copy, with no false positive on a near-identical file.</a:t>
            </a:r>
          </a:p>
          <a:p>
            <a:pPr marL="390525" indent="-378460">
              <a:lnSpc>
                <a:spcPct val="101499"/>
              </a:lnSpc>
              <a:spcBef>
                <a:spcPts val="40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Search efficiency: </a:t>
            </a:r>
            <a:r>
              <a:rPr sz="3200" dirty="0">
                <a:latin typeface="Calibri"/>
                <a:cs typeface="Calibri"/>
              </a:rPr>
              <a:t>The hash table gives O(1) average lookup per file, replacing O(n²) pairwise comparison.</a:t>
            </a:r>
          </a:p>
          <a:p>
            <a:pPr marL="390525" indent="-378460">
              <a:lnSpc>
                <a:spcPct val="101499"/>
              </a:lnSpc>
              <a:spcBef>
                <a:spcPts val="40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Safety: </a:t>
            </a:r>
            <a:r>
              <a:rPr sz="3200" dirty="0">
                <a:latin typeface="Calibri"/>
                <a:cs typeface="Calibri"/>
              </a:rPr>
              <a:t>Byte-by-byte verification after a hash match rules out collisions; 20,123 bytes were reported as reclaimable.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95"/>
              </a:spcBef>
            </a:pPr>
            <a:r>
              <a:rPr dirty="0"/>
              <a:t>Challenges</a:t>
            </a:r>
            <a:r>
              <a:rPr spc="-110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spc="-10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5130" y="1946370"/>
            <a:ext cx="10812780" cy="41001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Read cost: </a:t>
            </a:r>
            <a:r>
              <a:rPr sz="3200" dirty="0">
                <a:latin typeface="Calibri"/>
                <a:cs typeface="Calibri"/>
              </a:rPr>
              <a:t>Every file must be read in full to compute its hash, so scanning very large folders is slow.</a:t>
            </a:r>
          </a:p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Collision handling: </a:t>
            </a:r>
            <a:r>
              <a:rPr sz="3200" dirty="0">
                <a:latin typeface="Calibri"/>
                <a:cs typeface="Calibri"/>
              </a:rPr>
              <a:t>A 64-bit FNV-1a hash is not cryptographic and can collide, so a second byte-by-byte pass is needed.</a:t>
            </a:r>
          </a:p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Exact match only: </a:t>
            </a:r>
            <a:r>
              <a:rPr sz="3200" dirty="0">
                <a:latin typeface="Calibri"/>
                <a:cs typeface="Calibri"/>
              </a:rPr>
              <a:t>Files that differ by even one byte are treated as different, and the tool runs single-threaded.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179197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spc="-165" dirty="0"/>
              <a:t> </a:t>
            </a:r>
            <a:r>
              <a:rPr spc="-2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134" y="1591791"/>
            <a:ext cx="11010900" cy="45758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Stronger hashing: </a:t>
            </a:r>
            <a:r>
              <a:rPr sz="3200" dirty="0">
                <a:latin typeface="Calibri"/>
                <a:cs typeface="Calibri"/>
              </a:rPr>
              <a:t>Add N-layer hashing with SHA-256 and MD5 for higher collision resistance, as in the literature.</a:t>
            </a:r>
          </a:p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Near-duplicate detection: </a:t>
            </a:r>
            <a:r>
              <a:rPr sz="3200" dirty="0">
                <a:latin typeface="Calibri"/>
                <a:cs typeface="Calibri"/>
              </a:rPr>
              <a:t>Use chunk-level or fuzzy hashing to find similar files, not only identical ones.</a:t>
            </a:r>
          </a:p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Safe cleanup &amp; GUI: </a:t>
            </a:r>
            <a:r>
              <a:rPr sz="3200" dirty="0">
                <a:latin typeface="Calibri"/>
                <a:cs typeface="Calibri"/>
              </a:rPr>
              <a:t>Add a graphical interface, a move-to-recycle option, multi-threaded scanning and a resizable hash table.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471" rIns="0" bIns="0" rtlCol="0">
            <a:spAutoFit/>
          </a:bodyPr>
          <a:lstStyle/>
          <a:p>
            <a:pPr marL="20389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20" name="object 6"/>
          <p:cNvSpPr txBox="1"/>
          <p:nvPr/>
        </p:nvSpPr>
        <p:spPr>
          <a:xfrm>
            <a:off x="636134" y="1591791"/>
            <a:ext cx="11010900" cy="45758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Automation success: </a:t>
            </a:r>
            <a:r>
              <a:rPr sz="3200" dirty="0">
                <a:latin typeface="Calibri"/>
                <a:cs typeface="Calibri"/>
              </a:rPr>
              <a:t>Replaced slow manual searching with an automated system that finds duplicate files by content.</a:t>
            </a:r>
          </a:p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Efficient design: </a:t>
            </a:r>
            <a:r>
              <a:rPr sz="3200" dirty="0">
                <a:latin typeface="Calibri"/>
                <a:cs typeface="Calibri"/>
              </a:rPr>
              <a:t>A hash table with chaining and linked lists gave fast lookups and neat grouping of duplicate paths.</a:t>
            </a:r>
          </a:p>
          <a:p>
            <a:pPr marL="390525" indent="-378460">
              <a:lnSpc>
                <a:spcPts val="3820"/>
              </a:lnSpc>
              <a:spcBef>
                <a:spcPts val="750"/>
              </a:spcBef>
              <a:buFont typeface="Arial"/>
              <a:buChar char="•"/>
            </a:pPr>
            <a:r>
              <a:rPr sz="3200" b="1" dirty="0">
                <a:latin typeface="Calibri"/>
                <a:cs typeface="Calibri"/>
              </a:rPr>
              <a:t>Reliable results: </a:t>
            </a:r>
            <a:r>
              <a:rPr sz="3200" dirty="0">
                <a:latin typeface="Calibri"/>
                <a:cs typeface="Calibri"/>
              </a:rPr>
              <a:t>Byte-by-byte verification keeps the report free of false positives, and files are only read, never changed.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76449" y="449922"/>
            <a:ext cx="259715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114" dirty="0"/>
              <a:t> </a:t>
            </a:r>
            <a:r>
              <a:rPr spc="-65" dirty="0"/>
              <a:t>You!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6134" y="1591796"/>
            <a:ext cx="29673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160" indent="-37846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91160" algn="l"/>
              </a:tabLst>
            </a:pPr>
            <a:r>
              <a:rPr sz="3200" dirty="0">
                <a:latin typeface="Calibri"/>
                <a:cs typeface="Calibri"/>
              </a:rPr>
              <a:t>Any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Questions?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</TotalTime>
  <Words>1323</Words>
  <Application>Microsoft Office PowerPoint</Application>
  <PresentationFormat>Custom</PresentationFormat>
  <Paragraphs>163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MT</vt:lpstr>
      <vt:lpstr>Calibri</vt:lpstr>
      <vt:lpstr>Courier New</vt:lpstr>
      <vt:lpstr>Office Theme</vt:lpstr>
      <vt:lpstr>Design And Implementation Of Duplicate File Detection System</vt:lpstr>
      <vt:lpstr>Introduction</vt:lpstr>
      <vt:lpstr>Objectives</vt:lpstr>
      <vt:lpstr>Methodology</vt:lpstr>
      <vt:lpstr>System Architecture Design</vt:lpstr>
      <vt:lpstr>Module 1: File Scanning &amp; Hash Indexing</vt:lpstr>
      <vt:lpstr>Module 2 : Duplicate Detection &amp; Cleanup Management</vt:lpstr>
      <vt:lpstr>Implementation – Module 1</vt:lpstr>
      <vt:lpstr>PowerPoint Presentation</vt:lpstr>
      <vt:lpstr>Results &amp; Discussion</vt:lpstr>
      <vt:lpstr>Challenges &amp; Limitations</vt:lpstr>
      <vt:lpstr>Future Scope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jeevanshaine18@outlook.com</cp:lastModifiedBy>
  <cp:revision>14</cp:revision>
  <dcterms:created xsi:type="dcterms:W3CDTF">2026-08-06T03:23:01Z</dcterms:created>
  <dcterms:modified xsi:type="dcterms:W3CDTF">2026-10-29T03:55:35Z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2026-08-06T00:00:00Z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2026-08-06T00:00:00Z</vt:filetime>
  </property>
</Properties>
</file>