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60120"/>
            <a:ext cx="10698480" cy="10058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3600" b="1">
                <a:solidFill>
                  <a:srgbClr val="1F3752"/>
                </a:solidFill>
                <a:latin typeface="Aptos"/>
              </a:defRPr>
            </a:pPr>
            <a:r>
              <a:t>Abstract Data Type (ADT)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1280160" cy="64008"/>
          </a:xfrm>
          <a:prstGeom prst="rect">
            <a:avLst/>
          </a:prstGeom>
          <a:solidFill>
            <a:srgbClr val="2A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240280"/>
            <a:ext cx="1024128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300" b="0">
                <a:solidFill>
                  <a:srgbClr val="646B72"/>
                </a:solidFill>
                <a:latin typeface="Aptos"/>
              </a:defRPr>
            </a:pPr>
            <a:r>
              <a:t>Definition, features and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03320"/>
            <a:ext cx="1024128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200" b="1">
                <a:solidFill>
                  <a:srgbClr val="2D3034"/>
                </a:solidFill>
                <a:latin typeface="Aptos"/>
              </a:defRPr>
            </a:pPr>
            <a:r>
              <a:t>Presented by: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51960"/>
            <a:ext cx="1024128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000" b="0">
                <a:solidFill>
                  <a:srgbClr val="2D3034"/>
                </a:solidFill>
                <a:latin typeface="Aptos"/>
              </a:defRPr>
            </a:pPr>
            <a:r>
              <a:t>Registration Number: 1965260019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212080"/>
            <a:ext cx="10241280" cy="658368"/>
          </a:xfrm>
          <a:prstGeom prst="roundRect">
            <a:avLst/>
          </a:prstGeom>
          <a:solidFill>
            <a:srgbClr val="EBF2F3"/>
          </a:solidFill>
          <a:ln>
            <a:solidFill>
              <a:srgbClr val="EB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600">
                <a:solidFill>
                  <a:srgbClr val="1F3752"/>
                </a:solidFill>
                <a:latin typeface="Aptos"/>
              </a:defRPr>
            </a:pPr>
            <a:r>
              <a:t>Topic: A basic concept in Data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000" b="0">
                <a:solidFill>
                  <a:srgbClr val="646B72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F3752"/>
                </a:solidFill>
                <a:latin typeface="Aptos"/>
              </a:defRPr>
            </a:pPr>
            <a:r>
              <a:t>What is an ADT?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2A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000" b="0">
                <a:solidFill>
                  <a:srgbClr val="646B7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332720" cy="44805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An Abstract Data Type is a logical model of a data type.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It defines the data and the operations that can be performed on it.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It describes what operations do, not how they are implemented.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66360"/>
            <a:ext cx="10241280" cy="777240"/>
          </a:xfrm>
          <a:prstGeom prst="roundRect">
            <a:avLst/>
          </a:prstGeom>
          <a:solidFill>
            <a:srgbClr val="EBF2F3"/>
          </a:solidFill>
          <a:ln>
            <a:solidFill>
              <a:srgbClr val="EB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600">
                <a:solidFill>
                  <a:srgbClr val="1F3752"/>
                </a:solidFill>
                <a:latin typeface="Aptos"/>
              </a:defRPr>
            </a:pPr>
            <a:r>
              <a:t>Remember: Example: a Stack supports push, pop and peek.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F3752"/>
                </a:solidFill>
                <a:latin typeface="Aptos"/>
              </a:defRPr>
            </a:pPr>
            <a:r>
              <a:t>Why do we use ADTs?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2A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000" b="0">
                <a:solidFill>
                  <a:srgbClr val="646B7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332720" cy="44805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To organise data and related operations clearly.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To hide implementation details from the user.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To make programs easier to maintain and modify.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To reuse the same interface with different implementations.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66360"/>
            <a:ext cx="10241280" cy="777240"/>
          </a:xfrm>
          <a:prstGeom prst="roundRect">
            <a:avLst/>
          </a:prstGeom>
          <a:solidFill>
            <a:srgbClr val="EBF2F3"/>
          </a:solidFill>
          <a:ln>
            <a:solidFill>
              <a:srgbClr val="EB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600">
                <a:solidFill>
                  <a:srgbClr val="1F3752"/>
                </a:solidFill>
                <a:latin typeface="Aptos"/>
              </a:defRPr>
            </a:pPr>
            <a:r>
              <a:t>Remember: The user works with the operations, not the internal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F3752"/>
                </a:solidFill>
                <a:latin typeface="Aptos"/>
              </a:defRPr>
            </a:pPr>
            <a:r>
              <a:t>Main idea: Interface vs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2A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000" b="0">
                <a:solidFill>
                  <a:srgbClr val="646B7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332720" cy="44805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Interface: the operations available to the user.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Implementation: the code and structure used internally.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The implementation can change without changing how the ADT is used.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66360"/>
            <a:ext cx="10241280" cy="777240"/>
          </a:xfrm>
          <a:prstGeom prst="roundRect">
            <a:avLst/>
          </a:prstGeom>
          <a:solidFill>
            <a:srgbClr val="EBF2F3"/>
          </a:solidFill>
          <a:ln>
            <a:solidFill>
              <a:srgbClr val="EB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600">
                <a:solidFill>
                  <a:srgbClr val="1F3752"/>
                </a:solidFill>
                <a:latin typeface="Aptos"/>
              </a:defRPr>
            </a:pPr>
            <a:r>
              <a:t>Remember: For a Stack, the interface may stay the same whether it uses an array or a linked 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F3752"/>
                </a:solidFill>
                <a:latin typeface="Aptos"/>
              </a:defRPr>
            </a:pPr>
            <a:r>
              <a:t>Feature 1 — Abstraction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2A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000" b="0">
                <a:solidFill>
                  <a:srgbClr val="646B7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332720" cy="44805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Shows only the essential operations.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Hides unnecessary internal details.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Lets the programmer focus on what the data structure does.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66360"/>
            <a:ext cx="10241280" cy="777240"/>
          </a:xfrm>
          <a:prstGeom prst="roundRect">
            <a:avLst/>
          </a:prstGeom>
          <a:solidFill>
            <a:srgbClr val="EBF2F3"/>
          </a:solidFill>
          <a:ln>
            <a:solidFill>
              <a:srgbClr val="EB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600">
                <a:solidFill>
                  <a:srgbClr val="1F3752"/>
                </a:solidFill>
                <a:latin typeface="Aptos"/>
              </a:defRPr>
            </a:pPr>
            <a:r>
              <a:t>Remember: Example: push(item) adds an item to a Stack.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F3752"/>
                </a:solidFill>
                <a:latin typeface="Aptos"/>
              </a:defRPr>
            </a:pPr>
            <a:r>
              <a:t>Feature 2 — Encapsulation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2A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000" b="0">
                <a:solidFill>
                  <a:srgbClr val="646B7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332720" cy="44805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Keeps data and its operations together as one unit.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Controls how the internal data is accessed or changed.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Helps prevent invalid or unintended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66360"/>
            <a:ext cx="10241280" cy="777240"/>
          </a:xfrm>
          <a:prstGeom prst="roundRect">
            <a:avLst/>
          </a:prstGeom>
          <a:solidFill>
            <a:srgbClr val="EBF2F3"/>
          </a:solidFill>
          <a:ln>
            <a:solidFill>
              <a:srgbClr val="EB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600">
                <a:solidFill>
                  <a:srgbClr val="1F3752"/>
                </a:solidFill>
                <a:latin typeface="Aptos"/>
              </a:defRPr>
            </a:pPr>
            <a:r>
              <a:t>Remember: Example: items are changed through push() and pop(), rather than directly.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F3752"/>
                </a:solidFill>
                <a:latin typeface="Aptos"/>
              </a:defRPr>
            </a:pPr>
            <a:r>
              <a:t>Feature 3 — Well-defined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2A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000" b="0">
                <a:solidFill>
                  <a:srgbClr val="646B7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332720" cy="44805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Each operation has a clear purpose.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Inputs, outputs and behaviour are specified.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This makes the ADT easier to understand and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66360"/>
            <a:ext cx="10241280" cy="777240"/>
          </a:xfrm>
          <a:prstGeom prst="roundRect">
            <a:avLst/>
          </a:prstGeom>
          <a:solidFill>
            <a:srgbClr val="EBF2F3"/>
          </a:solidFill>
          <a:ln>
            <a:solidFill>
              <a:srgbClr val="EB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600">
                <a:solidFill>
                  <a:srgbClr val="1F3752"/>
                </a:solidFill>
                <a:latin typeface="Aptos"/>
              </a:defRPr>
            </a:pPr>
            <a:r>
              <a:t>Remember: Queue operations commonly include enqueue(), dequeue() and front().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F3752"/>
                </a:solidFill>
                <a:latin typeface="Aptos"/>
              </a:defRPr>
            </a:pPr>
            <a:r>
              <a:t>Feature 4 — Implementation independence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2A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000" b="0">
                <a:solidFill>
                  <a:srgbClr val="646B7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332720" cy="44805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The same ADT can be implemented in different ways.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The choice depends on performance and program needs.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Code using the ADT usually does not need to change when its implementation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66360"/>
            <a:ext cx="10241280" cy="777240"/>
          </a:xfrm>
          <a:prstGeom prst="roundRect">
            <a:avLst/>
          </a:prstGeom>
          <a:solidFill>
            <a:srgbClr val="EBF2F3"/>
          </a:solidFill>
          <a:ln>
            <a:solidFill>
              <a:srgbClr val="EB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600">
                <a:solidFill>
                  <a:srgbClr val="1F3752"/>
                </a:solidFill>
                <a:latin typeface="Aptos"/>
              </a:defRPr>
            </a:pPr>
            <a:r>
              <a:t>Remember: A Queue can use an array or a linked list.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F3752"/>
                </a:solidFill>
                <a:latin typeface="Aptos"/>
              </a:defRPr>
            </a:pPr>
            <a:r>
              <a:t>Feature 5 — Reusability and modularity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2A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000" b="0">
                <a:solidFill>
                  <a:srgbClr val="646B7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332720" cy="44805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ADTs can be used in many programs.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They divide a program into manageable parts.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This reduces repeated code and simplifies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66360"/>
            <a:ext cx="10241280" cy="777240"/>
          </a:xfrm>
          <a:prstGeom prst="roundRect">
            <a:avLst/>
          </a:prstGeom>
          <a:solidFill>
            <a:srgbClr val="EBF2F3"/>
          </a:solidFill>
          <a:ln>
            <a:solidFill>
              <a:srgbClr val="EB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600">
                <a:solidFill>
                  <a:srgbClr val="1F3752"/>
                </a:solidFill>
                <a:latin typeface="Aptos"/>
              </a:defRPr>
            </a:pPr>
            <a:r>
              <a:t>Remember: A Stack ADT can be reused in expression evaluation and undo features.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F3752"/>
                </a:solidFill>
                <a:latin typeface="Aptos"/>
              </a:defRPr>
            </a:pPr>
            <a:r>
              <a:t>Common examples of ADTs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2A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000" b="0">
                <a:solidFill>
                  <a:srgbClr val="646B7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332720" cy="44805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Stack — follows LIFO (Last In, First Out).</a:t>
            </a:r>
          </a:p>
          <a:p>
            <a:pPr>
              <a:spcAft>
                <a:spcPts val="18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Queue — follows FIFO (First In, First Out).</a:t>
            </a:r>
          </a:p>
          <a:p>
            <a:pPr>
              <a:spcAft>
                <a:spcPts val="18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List — stores an ordered collection of elements.</a:t>
            </a:r>
          </a:p>
          <a:p>
            <a:pPr>
              <a:spcAft>
                <a:spcPts val="18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Set — stores unique elements.</a:t>
            </a:r>
          </a:p>
          <a:p>
            <a:pPr>
              <a:spcAft>
                <a:spcPts val="18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Map — stores key–value pairs.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66360"/>
            <a:ext cx="10241280" cy="777240"/>
          </a:xfrm>
          <a:prstGeom prst="roundRect">
            <a:avLst/>
          </a:prstGeom>
          <a:solidFill>
            <a:srgbClr val="EBF2F3"/>
          </a:solidFill>
          <a:ln>
            <a:solidFill>
              <a:srgbClr val="EB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600">
                <a:solidFill>
                  <a:srgbClr val="1F3752"/>
                </a:solidFill>
                <a:latin typeface="Aptos"/>
              </a:defRPr>
            </a:pPr>
            <a:r>
              <a:t>Remember: Each ADT is defined by its behaviour and supported operations.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F3752"/>
                </a:solidFill>
                <a:latin typeface="Aptos"/>
              </a:defRPr>
            </a:pPr>
            <a:r>
              <a:t>ADT in a real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2A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000" b="0">
                <a:solidFill>
                  <a:srgbClr val="646B7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332720" cy="44805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Undo feature: a Stack stores recent actions.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Printer queue: a Queue manages jobs in arrival order.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Contacts: a Map can connect a name or ID to contact details.</a:t>
            </a:r>
          </a:p>
          <a:p>
            <a:pPr>
              <a:spcAft>
                <a:spcPts val="1800"/>
              </a:spcAft>
              <a:defRPr sz="2100">
                <a:solidFill>
                  <a:srgbClr val="2D3034"/>
                </a:solidFill>
                <a:latin typeface="Aptos"/>
              </a:defRPr>
            </a:pPr>
            <a:r>
              <a:t>These examples focus on operations rather than internal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66360"/>
            <a:ext cx="10241280" cy="777240"/>
          </a:xfrm>
          <a:prstGeom prst="roundRect">
            <a:avLst/>
          </a:prstGeom>
          <a:solidFill>
            <a:srgbClr val="EBF2F3"/>
          </a:solidFill>
          <a:ln>
            <a:solidFill>
              <a:srgbClr val="EB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600">
                <a:solidFill>
                  <a:srgbClr val="1F3752"/>
                </a:solidFill>
                <a:latin typeface="Aptos"/>
              </a:defRPr>
            </a:pPr>
            <a:r>
              <a:t>Remember: Choosing an ADT helps match the program to the task.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800" b="1">
                <a:solidFill>
                  <a:srgbClr val="1F3752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2A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486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1000" b="0">
                <a:solidFill>
                  <a:srgbClr val="646B7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332720" cy="44805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An ADT defines data and the operations allowed on it.</a:t>
            </a:r>
          </a:p>
          <a:p>
            <a:pPr>
              <a:spcAft>
                <a:spcPts val="18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Its key features include abstraction, encapsulation and clear operations.</a:t>
            </a:r>
          </a:p>
          <a:p>
            <a:pPr>
              <a:spcAft>
                <a:spcPts val="18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It separates the interface from the implementation.</a:t>
            </a:r>
          </a:p>
          <a:p>
            <a:pPr>
              <a:spcAft>
                <a:spcPts val="18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Common examples are Stack, Queue, List, Set and Map.</a:t>
            </a:r>
          </a:p>
          <a:p>
            <a:pPr>
              <a:spcAft>
                <a:spcPts val="18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66360"/>
            <a:ext cx="10241280" cy="777240"/>
          </a:xfrm>
          <a:prstGeom prst="roundRect">
            <a:avLst/>
          </a:prstGeom>
          <a:solidFill>
            <a:srgbClr val="EBF2F3"/>
          </a:solidFill>
          <a:ln>
            <a:solidFill>
              <a:srgbClr val="EB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600">
                <a:solidFill>
                  <a:srgbClr val="1F3752"/>
                </a:solidFill>
                <a:latin typeface="Aptos"/>
              </a:defRPr>
            </a:pPr>
            <a:r>
              <a:t>Remember: ADT makes data structures easier to design, use and maintain.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