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241280" cy="1417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1F384E"/>
                </a:solidFill>
                <a:latin typeface="Aptos"/>
              </a:defRPr>
            </a:pPr>
            <a:r>
              <a:t>ROLE OF PERFORMANCE ANALYSIS</a:t>
            </a:r>
          </a:p>
          <a:p>
            <a:pPr>
              <a:spcAft>
                <a:spcPts val="900"/>
              </a:spcAft>
              <a:defRPr sz="3200" b="1">
                <a:solidFill>
                  <a:srgbClr val="1F384E"/>
                </a:solidFill>
                <a:latin typeface="Aptos"/>
              </a:defRPr>
            </a:pPr>
            <a:r>
              <a:t>IN REAL-TIME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880360"/>
            <a:ext cx="987552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4A7D66"/>
                </a:solidFill>
                <a:latin typeface="Aptos"/>
              </a:defRPr>
            </a:pPr>
            <a:r>
              <a:t>Importance, key metrics and practical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49039"/>
            <a:ext cx="1828800" cy="54864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114800"/>
            <a:ext cx="8412480" cy="10058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D3136"/>
                </a:solidFill>
                <a:latin typeface="Aptos"/>
              </a:defRPr>
            </a:pPr>
            <a:r>
              <a:t>Presented by: D Jeevanshine</a:t>
            </a:r>
          </a:p>
          <a:p>
            <a:pPr>
              <a:spcAft>
                <a:spcPts val="900"/>
              </a:spcAft>
              <a:defRPr sz="1900" b="0">
                <a:solidFill>
                  <a:srgbClr val="2D3136"/>
                </a:solidFill>
                <a:latin typeface="Aptos"/>
              </a:defRPr>
            </a:pPr>
            <a:r>
              <a:t>Register Number: 1965260019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6172200"/>
            <a:ext cx="98755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F6972"/>
                </a:solidFill>
                <a:latin typeface="Aptos"/>
              </a:defRPr>
            </a:pPr>
            <a:r>
              <a:t>Real-Time Systems  •  Performance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1. What is a Real-Time System?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A real-time system must produce a correct result within a specified time limit.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Correctness depends on both the result and when the result is produced.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Examples include vehicle braking systems, medical monitors and industrial control.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Missing a deadline may reduce performance or create a safety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2. Meaning of 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Performance analysis measures how efficiently a real-time system operates.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It studies execution time, response time, resource use and deadline completion.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It helps identify delays, bottlenecks and overloaded components.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The goal is to make system behaviour predictable and reliable.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3. Why Performance Analysis is Important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Deadline assurance: checks whether tasks finish on time.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Reliability: helps detect timing problems before deployment.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Resource planning: evaluates CPU, memory, network and power usage.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Safety: supports systems where delays can cause harm.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Optimization: helps developers improve scheduling and system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4. Key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4173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7315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118872" marR="91440" marT="73152" marB="54864">
                    <a:solidFill>
                      <a:srgbClr val="1F3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measures</a:t>
                      </a:r>
                    </a:p>
                  </a:txBody>
                  <a:tcPr marL="118872" marR="91440" marT="73152" marB="54864">
                    <a:solidFill>
                      <a:srgbClr val="1F384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Response time</a:t>
                      </a:r>
                    </a:p>
                  </a:txBody>
                  <a:tcPr marL="118872" marR="91440" marT="73152" marB="54864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Time taken to respond to an event.</a:t>
                      </a:r>
                    </a:p>
                  </a:txBody>
                  <a:tcPr marL="118872" marR="91440" marT="73152" marB="54864">
                    <a:solidFill>
                      <a:srgbClr val="EDF3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Execution time</a:t>
                      </a:r>
                    </a:p>
                  </a:txBody>
                  <a:tcPr marL="118872" marR="91440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Time a task needs on the processor.</a:t>
                      </a:r>
                    </a:p>
                  </a:txBody>
                  <a:tcPr marL="118872" marR="91440" marT="73152" marB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Deadline miss rate</a:t>
                      </a:r>
                    </a:p>
                  </a:txBody>
                  <a:tcPr marL="118872" marR="91440" marT="73152" marB="54864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How often tasks finish after their deadlines.</a:t>
                      </a:r>
                    </a:p>
                  </a:txBody>
                  <a:tcPr marL="118872" marR="91440" marT="73152" marB="54864">
                    <a:solidFill>
                      <a:srgbClr val="EDF3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Jitter</a:t>
                      </a:r>
                    </a:p>
                  </a:txBody>
                  <a:tcPr marL="118872" marR="91440" marT="73152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Variation in timing or response intervals.</a:t>
                      </a:r>
                    </a:p>
                  </a:txBody>
                  <a:tcPr marL="118872" marR="91440" marT="73152" marB="54864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Resource utilization</a:t>
                      </a:r>
                    </a:p>
                  </a:txBody>
                  <a:tcPr marL="118872" marR="91440" marT="73152" marB="54864"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D3136"/>
                          </a:solidFill>
                          <a:latin typeface="Aptos"/>
                        </a:defRPr>
                      </a:pPr>
                      <a:r>
                        <a:t>Amount of CPU, memory or network capacity used.</a:t>
                      </a:r>
                    </a:p>
                  </a:txBody>
                  <a:tcPr marL="118872" marR="91440" marT="73152" marB="54864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5. Types of 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Static analysis: estimates timing and resource needs without running the program.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Dynamic analysis: measures the system while it is executing.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Simulation: tests system behaviour using a model of tasks and workloads.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Stress testing: checks performance under heavy or peak workloads.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Worst-case execution-time analysis estimates the longest task execution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6. Role in Task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Analysis helps determine whether tasks can meet their deadlines.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It supports the selection of scheduling methods such as Rate Monotonic or Earliest Deadline First.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It reveals CPU overload and priority-related delays.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It helps assign priorities and allocate processor time more effectively.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8288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376991"/>
                </a:solidFill>
                <a:latin typeface="Aptos"/>
              </a:defRPr>
            </a:pPr>
            <a:r>
              <a:t>Example task timeline: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892040"/>
            <a:ext cx="1828800" cy="502920"/>
          </a:xfrm>
          <a:prstGeom prst="round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Task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892040"/>
            <a:ext cx="1828800" cy="502920"/>
          </a:xfrm>
          <a:prstGeom prst="round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Task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892040"/>
            <a:ext cx="1828800" cy="502920"/>
          </a:xfrm>
          <a:prstGeom prst="roundRect">
            <a:avLst/>
          </a:prstGeom>
          <a:solidFill>
            <a:srgbClr val="1F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Task 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7. Tools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Profilers measure CPU time, memory use and function-level delays.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Trace tools record when tasks start, run, block and finish.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Benchmarks compare performance under the same workload.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Logs and monitoring dashboards help identify recurring timing problems.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Testing should include normal, peak and unusual operating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8. Practical Example: Traffic Signal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The controller receives sensor inputs and changes traffic lights.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Performance analysis measures how quickly the system reacts to a vehicle or pedestrian request.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It checks that signal changes occur within required timing limits.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Testing under busy traffic conditions helps reveal delays and scheduling issues.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The result is a more predictable and dependable traffic-control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9. Challenges in Performance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Real workloads can change from moment to moment.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Interrupts and communication delays can affect timing.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Average execution time alone may hide rare deadline misses.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Hardware, software and environmental conditions can change results.</a:t>
            </a:r>
          </a:p>
          <a:p>
            <a:pPr>
              <a:spcAft>
                <a:spcPts val="1500"/>
              </a:spcAft>
              <a:defRPr sz="2000">
                <a:solidFill>
                  <a:srgbClr val="2D3136"/>
                </a:solidFill>
                <a:latin typeface="Aptos"/>
              </a:defRPr>
            </a:pPr>
            <a:r>
              <a:t>•  Testing should consider worst-case behaviour as well as typical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10. Benefits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Benefits: better timing predictability, improved resource use and fewer deadline failures.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It supports verification before a system is used in the real world.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Limitations: analysis depends on realistic workloads and accurate measurements.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Some timing behaviour is difficult to reproduce in a test environment.</a:t>
            </a:r>
          </a:p>
          <a:p>
            <a:pPr>
              <a:spcAft>
                <a:spcPts val="1500"/>
              </a:spcAft>
              <a:defRPr sz="1900">
                <a:solidFill>
                  <a:srgbClr val="2D3136"/>
                </a:solidFill>
                <a:latin typeface="Aptos"/>
              </a:defRPr>
            </a:pPr>
            <a:r>
              <a:t>•  Combining analysis, simulation and real-world testing gives stronger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7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F384E"/>
                </a:solidFill>
                <a:latin typeface="Aptos"/>
              </a:defRPr>
            </a:pPr>
            <a:r>
              <a:t>11.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" cy="45720"/>
          </a:xfrm>
          <a:prstGeom prst="rect">
            <a:avLst/>
          </a:prstGeom>
          <a:solidFill>
            <a:srgbClr val="4A7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5F6972"/>
                </a:solidFill>
                <a:latin typeface="Aptos"/>
              </a:defRPr>
            </a:pPr>
            <a:r>
              <a:t>Performance Analysis in Real-Time Systems  •  D Jeevanshine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r">
              <a:spcAft>
                <a:spcPts val="900"/>
              </a:spcAft>
              <a:defRPr sz="1000" b="0">
                <a:solidFill>
                  <a:srgbClr val="5F69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Performance analysis is essential for dependable real-time systems.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It checks response time, execution time, deadline misses and resource usage.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It helps engineers choose suitable schedules and find performance bottlenecks.</a:t>
            </a:r>
          </a:p>
          <a:p>
            <a:pPr>
              <a:spcAft>
                <a:spcPts val="1500"/>
              </a:spcAft>
              <a:defRPr sz="2100">
                <a:solidFill>
                  <a:srgbClr val="2D3136"/>
                </a:solidFill>
                <a:latin typeface="Aptos"/>
              </a:defRPr>
            </a:pPr>
            <a:r>
              <a:t>•  Careful analysis and testing improve reliability, safety and predictability.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spcAft>
                <a:spcPts val="900"/>
              </a:spcAft>
              <a:defRPr sz="2300" b="1">
                <a:solidFill>
                  <a:srgbClr val="4A7D66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