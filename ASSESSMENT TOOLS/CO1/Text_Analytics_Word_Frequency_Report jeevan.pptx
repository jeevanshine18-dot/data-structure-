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2"/>
    <p:sldId id="277" r:id="rId3"/>
    <p:sldId id="278" r:id="rId4"/>
    <p:sldId id="27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956" y="-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039" y="1302098"/>
            <a:ext cx="5364281" cy="5883670"/>
          </a:xfrm>
          <a:prstGeom prst="rect">
            <a:avLst/>
          </a:prstGeom>
        </p:spPr>
        <p:txBody>
          <a:bodyPr vert="horz" wrap="square" lIns="0" tIns="11946" rIns="0" bIns="0" rtlCol="0">
            <a:spAutoFit/>
          </a:bodyPr>
          <a:lstStyle/>
          <a:p>
            <a:pPr algn="ctr">
              <a:spcBef>
                <a:spcPts val="94"/>
              </a:spcBef>
            </a:pPr>
            <a:r>
              <a:rPr lang="en-IN" sz="1881" b="1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Analytics &amp; Word Frequency Counter </a:t>
            </a:r>
          </a:p>
          <a:p>
            <a:pPr algn="ctr">
              <a:spcBef>
                <a:spcPts val="94"/>
              </a:spcBef>
            </a:pPr>
            <a:r>
              <a:rPr sz="1317" b="1" dirty="0">
                <a:latin typeface="Times New Roman"/>
                <a:cs typeface="Times New Roman"/>
              </a:rPr>
              <a:t>A</a:t>
            </a:r>
            <a:r>
              <a:rPr sz="1317" b="1" spc="-42" dirty="0">
                <a:latin typeface="Times New Roman"/>
                <a:cs typeface="Times New Roman"/>
              </a:rPr>
              <a:t> </a:t>
            </a:r>
            <a:r>
              <a:rPr sz="1317" b="1" spc="-9" dirty="0">
                <a:latin typeface="Times New Roman"/>
                <a:cs typeface="Times New Roman"/>
              </a:rPr>
              <a:t>CAPSTONE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PROJECT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spc="-9" dirty="0">
                <a:latin typeface="Times New Roman"/>
                <a:cs typeface="Times New Roman"/>
              </a:rPr>
              <a:t>REPORT</a:t>
            </a:r>
            <a:endParaRPr sz="1317" dirty="0">
              <a:latin typeface="Times New Roman"/>
              <a:cs typeface="Times New Roman"/>
            </a:endParaRPr>
          </a:p>
          <a:p>
            <a:pPr>
              <a:spcBef>
                <a:spcPts val="978"/>
              </a:spcBef>
            </a:pPr>
            <a:endParaRPr sz="1317" dirty="0">
              <a:latin typeface="Times New Roman"/>
              <a:cs typeface="Times New Roman"/>
            </a:endParaRPr>
          </a:p>
          <a:p>
            <a:pPr marL="11348" marR="4778" algn="ctr">
              <a:lnSpc>
                <a:spcPct val="102499"/>
              </a:lnSpc>
            </a:pPr>
            <a:r>
              <a:rPr sz="1317" b="1" i="1" dirty="0">
                <a:latin typeface="Times New Roman"/>
                <a:cs typeface="Times New Roman"/>
              </a:rPr>
              <a:t>A</a:t>
            </a:r>
            <a:r>
              <a:rPr sz="1317" b="1" i="1" spc="-38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Capstone</a:t>
            </a:r>
            <a:r>
              <a:rPr sz="1317" b="1" i="1" spc="-33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Project</a:t>
            </a:r>
            <a:r>
              <a:rPr sz="1317" b="1" i="1" spc="-38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Report</a:t>
            </a:r>
            <a:r>
              <a:rPr sz="1317" b="1" i="1" spc="-33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submitted</a:t>
            </a:r>
            <a:r>
              <a:rPr sz="1317" b="1" i="1" spc="-38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in</a:t>
            </a:r>
            <a:r>
              <a:rPr sz="1317" b="1" i="1" spc="-33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partial</a:t>
            </a:r>
            <a:r>
              <a:rPr sz="1317" b="1" i="1" spc="-38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fulfilment</a:t>
            </a:r>
            <a:r>
              <a:rPr sz="1317" b="1" i="1" spc="-33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of</a:t>
            </a:r>
            <a:r>
              <a:rPr sz="1317" b="1" i="1" spc="-38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the</a:t>
            </a:r>
            <a:r>
              <a:rPr sz="1317" b="1" i="1" spc="-33" dirty="0">
                <a:latin typeface="Times New Roman"/>
                <a:cs typeface="Times New Roman"/>
              </a:rPr>
              <a:t> </a:t>
            </a:r>
            <a:r>
              <a:rPr sz="1317" b="1" i="1" spc="-9" dirty="0">
                <a:latin typeface="Times New Roman"/>
                <a:cs typeface="Times New Roman"/>
              </a:rPr>
              <a:t>requirements </a:t>
            </a:r>
            <a:r>
              <a:rPr sz="1317" b="1" i="1" dirty="0">
                <a:latin typeface="Times New Roman"/>
                <a:cs typeface="Times New Roman"/>
              </a:rPr>
              <a:t>for</a:t>
            </a:r>
            <a:r>
              <a:rPr sz="1317" b="1" i="1" spc="-33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the</a:t>
            </a:r>
            <a:r>
              <a:rPr sz="1317" b="1" i="1" spc="-33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Course</a:t>
            </a:r>
            <a:r>
              <a:rPr sz="1317" b="1" i="1" spc="-28" dirty="0">
                <a:latin typeface="Times New Roman"/>
                <a:cs typeface="Times New Roman"/>
              </a:rPr>
              <a:t> </a:t>
            </a:r>
            <a:r>
              <a:rPr sz="1317" b="1" i="1" spc="-24" dirty="0">
                <a:latin typeface="Times New Roman"/>
                <a:cs typeface="Times New Roman"/>
              </a:rPr>
              <a:t>of</a:t>
            </a:r>
            <a:endParaRPr sz="1317" dirty="0">
              <a:latin typeface="Times New Roman"/>
              <a:cs typeface="Times New Roman"/>
            </a:endParaRPr>
          </a:p>
          <a:p>
            <a:pPr>
              <a:spcBef>
                <a:spcPts val="132"/>
              </a:spcBef>
            </a:pPr>
            <a:endParaRPr sz="1317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1505" b="1" dirty="0">
                <a:latin typeface="Times New Roman"/>
                <a:cs typeface="Times New Roman"/>
              </a:rPr>
              <a:t>CSA0804 – Python Programming</a:t>
            </a:r>
            <a:endParaRPr sz="1505" dirty="0">
              <a:latin typeface="Times New Roman"/>
              <a:cs typeface="Times New Roman"/>
            </a:endParaRPr>
          </a:p>
          <a:p>
            <a:pPr>
              <a:spcBef>
                <a:spcPts val="931"/>
              </a:spcBef>
            </a:pPr>
            <a:endParaRPr sz="1505" dirty="0">
              <a:latin typeface="Times New Roman"/>
              <a:cs typeface="Times New Roman"/>
            </a:endParaRPr>
          </a:p>
          <a:p>
            <a:pPr marL="41212" algn="ctr">
              <a:spcBef>
                <a:spcPts val="5"/>
              </a:spcBef>
            </a:pPr>
            <a:r>
              <a:rPr sz="1317" b="1" i="1" dirty="0">
                <a:latin typeface="Times New Roman"/>
                <a:cs typeface="Times New Roman"/>
              </a:rPr>
              <a:t>to</a:t>
            </a:r>
            <a:r>
              <a:rPr sz="1317" b="1" i="1" spc="-28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the</a:t>
            </a:r>
            <a:r>
              <a:rPr sz="1317" b="1" i="1" spc="-24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award</a:t>
            </a:r>
            <a:r>
              <a:rPr sz="1317" b="1" i="1" spc="-24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of</a:t>
            </a:r>
            <a:r>
              <a:rPr sz="1317" b="1" i="1" spc="-24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the</a:t>
            </a:r>
            <a:r>
              <a:rPr sz="1317" b="1" i="1" spc="-28" dirty="0">
                <a:latin typeface="Times New Roman"/>
                <a:cs typeface="Times New Roman"/>
              </a:rPr>
              <a:t> </a:t>
            </a:r>
            <a:r>
              <a:rPr sz="1317" b="1" i="1" dirty="0">
                <a:latin typeface="Times New Roman"/>
                <a:cs typeface="Times New Roman"/>
              </a:rPr>
              <a:t>degree</a:t>
            </a:r>
            <a:r>
              <a:rPr sz="1317" b="1" i="1" spc="-24" dirty="0">
                <a:latin typeface="Times New Roman"/>
                <a:cs typeface="Times New Roman"/>
              </a:rPr>
              <a:t> of</a:t>
            </a:r>
            <a:endParaRPr sz="1317" dirty="0">
              <a:latin typeface="Times New Roman"/>
              <a:cs typeface="Times New Roman"/>
            </a:endParaRPr>
          </a:p>
          <a:p>
            <a:pPr marL="111094" marR="103926" algn="ctr">
              <a:lnSpc>
                <a:spcPct val="150200"/>
              </a:lnSpc>
              <a:spcBef>
                <a:spcPts val="1364"/>
              </a:spcBef>
            </a:pPr>
            <a:r>
              <a:rPr sz="1317" b="1" spc="-9" dirty="0">
                <a:latin typeface="Times New Roman"/>
                <a:cs typeface="Times New Roman"/>
              </a:rPr>
              <a:t>BACHELOR </a:t>
            </a:r>
            <a:r>
              <a:rPr sz="1317" b="1" dirty="0">
                <a:latin typeface="Times New Roman"/>
                <a:cs typeface="Times New Roman"/>
              </a:rPr>
              <a:t>OF</a:t>
            </a:r>
            <a:r>
              <a:rPr sz="1317" b="1" spc="-14" dirty="0">
                <a:latin typeface="Times New Roman"/>
                <a:cs typeface="Times New Roman"/>
              </a:rPr>
              <a:t> </a:t>
            </a:r>
            <a:r>
              <a:rPr sz="1317" b="1" spc="-9" dirty="0">
                <a:latin typeface="Times New Roman"/>
                <a:cs typeface="Times New Roman"/>
              </a:rPr>
              <a:t>TECHNOLOGY </a:t>
            </a:r>
            <a:r>
              <a:rPr sz="1317" b="1" spc="-24" dirty="0">
                <a:latin typeface="Times New Roman"/>
                <a:cs typeface="Times New Roman"/>
              </a:rPr>
              <a:t>I</a:t>
            </a:r>
            <a:r>
              <a:rPr lang="en-US" sz="1317" b="1" spc="-24" dirty="0">
                <a:latin typeface="Times New Roman"/>
                <a:cs typeface="Times New Roman"/>
              </a:rPr>
              <a:t>N</a:t>
            </a:r>
          </a:p>
          <a:p>
            <a:pPr marL="2263695" marR="412124" indent="-1760784" algn="l">
              <a:lnSpc>
                <a:spcPct val="102499"/>
              </a:lnSpc>
              <a:spcBef>
                <a:spcPts val="752"/>
              </a:spcBef>
            </a:pPr>
            <a:r>
              <a:rPr lang="en-IN" sz="1317" dirty="0">
                <a:latin typeface="Times New Roman"/>
                <a:cs typeface="Times New Roman"/>
              </a:rPr>
              <a:t>                                  CYBER SECURITY</a:t>
            </a:r>
            <a:endParaRPr sz="1317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317" b="1" dirty="0">
                <a:latin typeface="Times New Roman"/>
                <a:cs typeface="Times New Roman"/>
              </a:rPr>
              <a:t>Submitted</a:t>
            </a:r>
            <a:r>
              <a:rPr sz="1317" b="1" spc="-52" dirty="0">
                <a:latin typeface="Times New Roman"/>
                <a:cs typeface="Times New Roman"/>
              </a:rPr>
              <a:t> </a:t>
            </a:r>
            <a:r>
              <a:rPr sz="1317" b="1" spc="-24" dirty="0">
                <a:latin typeface="Times New Roman"/>
                <a:cs typeface="Times New Roman"/>
              </a:rPr>
              <a:t>by</a:t>
            </a:r>
            <a:endParaRPr sz="1317" dirty="0">
              <a:latin typeface="Times New Roman"/>
              <a:cs typeface="Times New Roman"/>
            </a:endParaRPr>
          </a:p>
          <a:p>
            <a:pPr marL="1364787" marR="1164101" indent="13737" algn="ctr">
              <a:lnSpc>
                <a:spcPct val="143700"/>
              </a:lnSpc>
              <a:spcBef>
                <a:spcPts val="103"/>
              </a:spcBef>
            </a:pPr>
            <a:r>
              <a:rPr lang="en-US" sz="1317" b="1" dirty="0" err="1">
                <a:latin typeface="Times New Roman"/>
                <a:cs typeface="Times New Roman"/>
              </a:rPr>
              <a:t>D.Jeevanshine</a:t>
            </a:r>
            <a:r>
              <a:rPr lang="en-US" sz="1317" b="1" dirty="0">
                <a:latin typeface="Times New Roman"/>
                <a:cs typeface="Times New Roman"/>
              </a:rPr>
              <a:t>(1965260019)</a:t>
            </a:r>
            <a:endParaRPr sz="1317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17" dirty="0">
              <a:latin typeface="Times New Roman"/>
              <a:cs typeface="Times New Roman"/>
            </a:endParaRPr>
          </a:p>
          <a:p>
            <a:pPr marL="1787662" marR="1780495" algn="ctr">
              <a:lnSpc>
                <a:spcPct val="150200"/>
              </a:lnSpc>
            </a:pPr>
            <a:r>
              <a:rPr sz="1317" b="1" dirty="0">
                <a:latin typeface="Times New Roman"/>
                <a:cs typeface="Times New Roman"/>
              </a:rPr>
              <a:t>Under</a:t>
            </a:r>
            <a:r>
              <a:rPr sz="1317" b="1" spc="-47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the</a:t>
            </a:r>
            <a:r>
              <a:rPr sz="1317" b="1" spc="-42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Supervision</a:t>
            </a:r>
            <a:r>
              <a:rPr sz="1317" b="1" spc="-47" dirty="0">
                <a:latin typeface="Times New Roman"/>
                <a:cs typeface="Times New Roman"/>
              </a:rPr>
              <a:t> </a:t>
            </a:r>
            <a:r>
              <a:rPr sz="1317" b="1" spc="-24" dirty="0">
                <a:latin typeface="Times New Roman"/>
                <a:cs typeface="Times New Roman"/>
              </a:rPr>
              <a:t>of </a:t>
            </a:r>
            <a:r>
              <a:rPr lang="en-US" sz="1317" b="1" dirty="0">
                <a:latin typeface="Times New Roman"/>
                <a:cs typeface="Times New Roman"/>
              </a:rPr>
              <a:t>Dr. ROHITH BHAT C</a:t>
            </a:r>
            <a:endParaRPr sz="1317" dirty="0">
              <a:latin typeface="Times New Roman"/>
              <a:cs typeface="Times New Roman"/>
            </a:endParaRPr>
          </a:p>
          <a:p>
            <a:pPr algn="ctr">
              <a:spcBef>
                <a:spcPts val="1157"/>
              </a:spcBef>
            </a:pPr>
            <a:r>
              <a:rPr sz="1505" b="1" spc="-19" dirty="0">
                <a:latin typeface="Times New Roman"/>
                <a:cs typeface="Times New Roman"/>
              </a:rPr>
              <a:t>SIMATS</a:t>
            </a:r>
            <a:r>
              <a:rPr sz="1505" b="1" spc="-47" dirty="0">
                <a:latin typeface="Times New Roman"/>
                <a:cs typeface="Times New Roman"/>
              </a:rPr>
              <a:t> </a:t>
            </a:r>
            <a:r>
              <a:rPr sz="1505" b="1" spc="-9" dirty="0">
                <a:latin typeface="Times New Roman"/>
                <a:cs typeface="Times New Roman"/>
              </a:rPr>
              <a:t>ENGINEERING</a:t>
            </a:r>
            <a:endParaRPr sz="1505" dirty="0">
              <a:latin typeface="Times New Roman"/>
              <a:cs typeface="Times New Roman"/>
            </a:endParaRPr>
          </a:p>
          <a:p>
            <a:pPr marL="804537" marR="797370" algn="ctr">
              <a:lnSpc>
                <a:spcPct val="150200"/>
              </a:lnSpc>
              <a:spcBef>
                <a:spcPts val="19"/>
              </a:spcBef>
            </a:pPr>
            <a:r>
              <a:rPr sz="1317" b="1" dirty="0">
                <a:latin typeface="Times New Roman"/>
                <a:cs typeface="Times New Roman"/>
              </a:rPr>
              <a:t>Saveetha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Institute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of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Medical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and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spc="-19" dirty="0">
                <a:latin typeface="Times New Roman"/>
                <a:cs typeface="Times New Roman"/>
              </a:rPr>
              <a:t>Technical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spc="-9" dirty="0">
                <a:latin typeface="Times New Roman"/>
                <a:cs typeface="Times New Roman"/>
              </a:rPr>
              <a:t>Sciences Chennai-602105</a:t>
            </a:r>
            <a:endParaRPr sz="1317" dirty="0">
              <a:latin typeface="Times New Roman"/>
              <a:cs typeface="Times New Roman"/>
            </a:endParaRPr>
          </a:p>
          <a:p>
            <a:pPr>
              <a:spcBef>
                <a:spcPts val="898"/>
              </a:spcBef>
            </a:pPr>
            <a:endParaRPr sz="1317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317" b="1" spc="-9" dirty="0">
                <a:latin typeface="Times New Roman"/>
                <a:cs typeface="Times New Roman"/>
              </a:rPr>
              <a:t>SEPTEMBER</a:t>
            </a:r>
            <a:r>
              <a:rPr sz="1317" b="1" spc="-28" dirty="0">
                <a:latin typeface="Times New Roman"/>
                <a:cs typeface="Times New Roman"/>
              </a:rPr>
              <a:t> </a:t>
            </a:r>
            <a:r>
              <a:rPr sz="1317" b="1" spc="-19" dirty="0">
                <a:latin typeface="Times New Roman"/>
                <a:cs typeface="Times New Roman"/>
              </a:rPr>
              <a:t>2026</a:t>
            </a:r>
            <a:endParaRPr sz="1317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406" y="298646"/>
            <a:ext cx="5393548" cy="7167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494" y="658000"/>
            <a:ext cx="5411467" cy="3723616"/>
          </a:xfrm>
          <a:prstGeom prst="rect">
            <a:avLst/>
          </a:prstGeom>
        </p:spPr>
        <p:txBody>
          <a:bodyPr vert="horz" wrap="square" lIns="0" tIns="184563" rIns="0" bIns="0" rtlCol="0">
            <a:spAutoFit/>
          </a:bodyPr>
          <a:lstStyle/>
          <a:p>
            <a:pPr marL="3584" algn="ctr">
              <a:spcBef>
                <a:spcPts val="1453"/>
              </a:spcBef>
            </a:pPr>
            <a:r>
              <a:rPr sz="2069" b="1" spc="-19" dirty="0">
                <a:latin typeface="Times New Roman"/>
                <a:cs typeface="Times New Roman"/>
              </a:rPr>
              <a:t>SIMATS</a:t>
            </a:r>
            <a:r>
              <a:rPr sz="2069" b="1" spc="-89" dirty="0">
                <a:latin typeface="Times New Roman"/>
                <a:cs typeface="Times New Roman"/>
              </a:rPr>
              <a:t> </a:t>
            </a:r>
            <a:r>
              <a:rPr sz="2069" b="1" spc="-9" dirty="0">
                <a:latin typeface="Times New Roman"/>
                <a:cs typeface="Times New Roman"/>
              </a:rPr>
              <a:t>ENGINEERING</a:t>
            </a:r>
            <a:endParaRPr sz="2069" dirty="0">
              <a:latin typeface="Times New Roman"/>
              <a:cs typeface="Times New Roman"/>
            </a:endParaRPr>
          </a:p>
          <a:p>
            <a:pPr marL="829623" marR="818872" algn="ctr">
              <a:lnSpc>
                <a:spcPct val="150200"/>
              </a:lnSpc>
              <a:spcBef>
                <a:spcPts val="71"/>
              </a:spcBef>
            </a:pPr>
            <a:r>
              <a:rPr sz="1317" b="1" dirty="0">
                <a:latin typeface="Times New Roman"/>
                <a:cs typeface="Times New Roman"/>
              </a:rPr>
              <a:t>Saveetha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Institute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of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Medical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and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spc="-19" dirty="0">
                <a:latin typeface="Times New Roman"/>
                <a:cs typeface="Times New Roman"/>
              </a:rPr>
              <a:t>Technical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spc="-9" dirty="0">
                <a:latin typeface="Times New Roman"/>
                <a:cs typeface="Times New Roman"/>
              </a:rPr>
              <a:t>Sciences Chennai-602105</a:t>
            </a:r>
            <a:endParaRPr sz="1317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17" dirty="0">
              <a:latin typeface="Times New Roman"/>
              <a:cs typeface="Times New Roman"/>
            </a:endParaRPr>
          </a:p>
          <a:p>
            <a:pPr>
              <a:spcBef>
                <a:spcPts val="607"/>
              </a:spcBef>
            </a:pPr>
            <a:endParaRPr sz="1317" dirty="0">
              <a:latin typeface="Times New Roman"/>
              <a:cs typeface="Times New Roman"/>
            </a:endParaRPr>
          </a:p>
          <a:p>
            <a:pPr marL="3584" algn="ctr"/>
            <a:r>
              <a:rPr sz="1881" b="1" dirty="0">
                <a:latin typeface="Times New Roman"/>
                <a:cs typeface="Times New Roman"/>
              </a:rPr>
              <a:t>BONAFIDE</a:t>
            </a:r>
            <a:r>
              <a:rPr sz="1881" b="1" spc="-118" dirty="0">
                <a:latin typeface="Times New Roman"/>
                <a:cs typeface="Times New Roman"/>
              </a:rPr>
              <a:t> </a:t>
            </a:r>
            <a:r>
              <a:rPr sz="1881" b="1" spc="-9" dirty="0">
                <a:latin typeface="Times New Roman"/>
                <a:cs typeface="Times New Roman"/>
              </a:rPr>
              <a:t>CERTIFICATE</a:t>
            </a:r>
            <a:endParaRPr sz="1881" dirty="0">
              <a:latin typeface="Times New Roman"/>
              <a:cs typeface="Times New Roman"/>
            </a:endParaRPr>
          </a:p>
          <a:p>
            <a:pPr>
              <a:spcBef>
                <a:spcPts val="475"/>
              </a:spcBef>
            </a:pPr>
            <a:endParaRPr sz="1881" dirty="0">
              <a:latin typeface="Times New Roman"/>
              <a:cs typeface="Times New Roman"/>
            </a:endParaRPr>
          </a:p>
          <a:p>
            <a:pPr marL="11946" marR="4778" indent="430042" algn="ctr">
              <a:lnSpc>
                <a:spcPct val="143700"/>
              </a:lnSpc>
            </a:pPr>
            <a:r>
              <a:rPr sz="1129" b="1" dirty="0">
                <a:latin typeface="Times New Roman"/>
                <a:cs typeface="Times New Roman"/>
              </a:rPr>
              <a:t>This</a:t>
            </a:r>
            <a:r>
              <a:rPr sz="1129" b="1" spc="25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is</a:t>
            </a:r>
            <a:r>
              <a:rPr sz="1129" b="1" spc="25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to</a:t>
            </a:r>
            <a:r>
              <a:rPr sz="1129" b="1" spc="25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certify</a:t>
            </a:r>
            <a:r>
              <a:rPr sz="1129" b="1" spc="25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that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Capstone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Project</a:t>
            </a:r>
            <a:r>
              <a:rPr sz="1129" b="1" spc="18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entitled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“</a:t>
            </a:r>
            <a:r>
              <a:rPr lang="en-US"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Text Analytics and Word Frequency Counter</a:t>
            </a:r>
            <a:r>
              <a:rPr sz="1129" b="1" dirty="0">
                <a:latin typeface="Times New Roman"/>
                <a:cs typeface="Times New Roman"/>
              </a:rPr>
              <a:t>”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has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spc="-19" dirty="0">
                <a:latin typeface="Times New Roman"/>
                <a:cs typeface="Times New Roman"/>
              </a:rPr>
              <a:t>been </a:t>
            </a:r>
            <a:r>
              <a:rPr sz="1129" b="1" dirty="0">
                <a:latin typeface="Times New Roman"/>
                <a:cs typeface="Times New Roman"/>
              </a:rPr>
              <a:t>carried</a:t>
            </a:r>
            <a:r>
              <a:rPr sz="1129" b="1" spc="19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out</a:t>
            </a:r>
            <a:r>
              <a:rPr sz="1129" b="1" spc="202" dirty="0">
                <a:latin typeface="Times New Roman"/>
                <a:cs typeface="Times New Roman"/>
              </a:rPr>
              <a:t> </a:t>
            </a:r>
            <a:r>
              <a:rPr lang="en-IN" sz="1129" b="1" spc="202" dirty="0" err="1">
                <a:latin typeface="Times New Roman"/>
                <a:cs typeface="Times New Roman"/>
              </a:rPr>
              <a:t>D.Jeevanshine</a:t>
            </a:r>
            <a:r>
              <a:rPr lang="en-IN" sz="1129" b="1" spc="202" dirty="0">
                <a:latin typeface="Times New Roman"/>
                <a:cs typeface="Times New Roman"/>
              </a:rPr>
              <a:t>(1965260019)</a:t>
            </a:r>
            <a:r>
              <a:rPr sz="1129" b="1" dirty="0">
                <a:latin typeface="Times New Roman"/>
                <a:cs typeface="Times New Roman"/>
              </a:rPr>
              <a:t>under</a:t>
            </a:r>
            <a:r>
              <a:rPr sz="1129" b="1" spc="132" dirty="0">
                <a:latin typeface="Times New Roman"/>
                <a:cs typeface="Times New Roman"/>
              </a:rPr>
              <a:t> </a:t>
            </a:r>
            <a:r>
              <a:rPr sz="1129" b="1" spc="-24" dirty="0">
                <a:latin typeface="Times New Roman"/>
                <a:cs typeface="Times New Roman"/>
              </a:rPr>
              <a:t>the </a:t>
            </a:r>
            <a:r>
              <a:rPr sz="1129" b="1" dirty="0">
                <a:latin typeface="Times New Roman"/>
                <a:cs typeface="Times New Roman"/>
              </a:rPr>
              <a:t>supervision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lang="en-US"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Dr. Rohith Bhat C </a:t>
            </a:r>
            <a:r>
              <a:rPr sz="1129" b="1" dirty="0">
                <a:latin typeface="Times New Roman"/>
                <a:cs typeface="Times New Roman"/>
              </a:rPr>
              <a:t>and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is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submitted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in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partial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fulfilment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61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56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requirements </a:t>
            </a:r>
            <a:r>
              <a:rPr sz="1129" b="1" dirty="0">
                <a:latin typeface="Times New Roman"/>
                <a:cs typeface="Times New Roman"/>
              </a:rPr>
              <a:t>for</a:t>
            </a:r>
            <a:r>
              <a:rPr sz="1129" b="1" spc="245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17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current</a:t>
            </a:r>
            <a:r>
              <a:rPr sz="1129" b="1" spc="17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semester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17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179" dirty="0">
                <a:latin typeface="Times New Roman"/>
                <a:cs typeface="Times New Roman"/>
              </a:rPr>
              <a:t> </a:t>
            </a:r>
            <a:r>
              <a:rPr sz="1129" b="1" dirty="0" err="1">
                <a:solidFill>
                  <a:srgbClr val="FF0000"/>
                </a:solidFill>
                <a:latin typeface="Times New Roman"/>
                <a:cs typeface="Times New Roman"/>
              </a:rPr>
              <a:t>B.Tech</a:t>
            </a:r>
            <a:r>
              <a:rPr sz="1129" b="1" spc="17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Artificial Intelligence and Data Science </a:t>
            </a:r>
            <a:r>
              <a:rPr sz="1129" b="1" dirty="0">
                <a:latin typeface="Times New Roman"/>
                <a:cs typeface="Times New Roman"/>
              </a:rPr>
              <a:t>program</a:t>
            </a:r>
            <a:r>
              <a:rPr sz="1129" b="1" spc="-1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at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Saveetha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Institute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Medical</a:t>
            </a:r>
            <a:r>
              <a:rPr sz="1129" b="1" spc="-1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and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spc="-19" dirty="0">
                <a:latin typeface="Times New Roman"/>
                <a:cs typeface="Times New Roman"/>
              </a:rPr>
              <a:t>Technical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Sciences,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Chennai.</a:t>
            </a:r>
            <a:endParaRPr sz="1129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4" y="5106280"/>
            <a:ext cx="2066631" cy="1103954"/>
          </a:xfrm>
          <a:prstGeom prst="rect">
            <a:avLst/>
          </a:prstGeom>
        </p:spPr>
        <p:txBody>
          <a:bodyPr vert="horz" wrap="square" lIns="0" tIns="111694" rIns="0" bIns="0" rtlCol="0">
            <a:spAutoFit/>
          </a:bodyPr>
          <a:lstStyle/>
          <a:p>
            <a:pPr marL="11946">
              <a:spcBef>
                <a:spcPts val="879"/>
              </a:spcBef>
            </a:pPr>
            <a:r>
              <a:rPr lang="en-US" sz="1129" b="1" dirty="0">
                <a:latin typeface="Times New Roman"/>
                <a:cs typeface="Times New Roman"/>
              </a:rPr>
              <a:t>Dr. Anushya. S</a:t>
            </a:r>
            <a:endParaRPr lang="en-US" sz="1129" dirty="0">
              <a:latin typeface="Times New Roman"/>
              <a:cs typeface="Times New Roman"/>
            </a:endParaRPr>
          </a:p>
          <a:p>
            <a:pPr marL="11946">
              <a:spcBef>
                <a:spcPts val="879"/>
              </a:spcBef>
            </a:pPr>
            <a:r>
              <a:rPr lang="en-US" sz="1129" b="1" spc="-9" dirty="0">
                <a:latin typeface="Times New Roman"/>
                <a:cs typeface="Times New Roman"/>
              </a:rPr>
              <a:t>Program Director</a:t>
            </a:r>
            <a:endParaRPr sz="1129" dirty="0">
              <a:latin typeface="Times New Roman"/>
              <a:cs typeface="Times New Roman"/>
            </a:endParaRPr>
          </a:p>
          <a:p>
            <a:pPr marL="11946" marR="42407">
              <a:lnSpc>
                <a:spcPct val="102499"/>
              </a:lnSpc>
            </a:pPr>
            <a:r>
              <a:rPr lang="en-US" sz="1129" b="1" dirty="0">
                <a:latin typeface="Times New Roman"/>
                <a:cs typeface="Times New Roman"/>
              </a:rPr>
              <a:t>Department of CSE</a:t>
            </a:r>
          </a:p>
          <a:p>
            <a:pPr marL="11946" marR="42407">
              <a:lnSpc>
                <a:spcPct val="102499"/>
              </a:lnSpc>
            </a:pPr>
            <a:r>
              <a:rPr sz="1129" b="1" spc="-9" dirty="0">
                <a:latin typeface="Times New Roman"/>
                <a:cs typeface="Times New Roman"/>
              </a:rPr>
              <a:t>SIMATS</a:t>
            </a:r>
            <a:r>
              <a:rPr sz="1129" b="1" spc="-28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Engineering,</a:t>
            </a:r>
            <a:endParaRPr sz="1129" dirty="0">
              <a:latin typeface="Times New Roman"/>
              <a:cs typeface="Times New Roman"/>
            </a:endParaRPr>
          </a:p>
          <a:p>
            <a:pPr marL="11946">
              <a:spcBef>
                <a:spcPts val="33"/>
              </a:spcBef>
            </a:pPr>
            <a:r>
              <a:rPr sz="1129" b="1" spc="-9" dirty="0">
                <a:latin typeface="Times New Roman"/>
                <a:cs typeface="Times New Roman"/>
              </a:rPr>
              <a:t>SIMATS, </a:t>
            </a:r>
            <a:r>
              <a:rPr sz="1129" b="1" dirty="0">
                <a:latin typeface="Times New Roman"/>
                <a:cs typeface="Times New Roman"/>
              </a:rPr>
              <a:t>Chennai</a:t>
            </a:r>
            <a:r>
              <a:rPr sz="1129" b="1" spc="-5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–</a:t>
            </a:r>
            <a:r>
              <a:rPr sz="1129" b="1" spc="-5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602105.</a:t>
            </a:r>
            <a:endParaRPr sz="1129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6626" y="5106280"/>
            <a:ext cx="2066630" cy="1094592"/>
          </a:xfrm>
          <a:prstGeom prst="rect">
            <a:avLst/>
          </a:prstGeom>
        </p:spPr>
        <p:txBody>
          <a:bodyPr vert="horz" wrap="square" lIns="0" tIns="111694" rIns="0" bIns="0" rtlCol="0">
            <a:spAutoFit/>
          </a:bodyPr>
          <a:lstStyle/>
          <a:p>
            <a:pPr marL="29864">
              <a:spcBef>
                <a:spcPts val="879"/>
              </a:spcBef>
            </a:pPr>
            <a:r>
              <a:rPr lang="en-US" sz="1129" b="1" dirty="0">
                <a:latin typeface="Times New Roman"/>
                <a:cs typeface="Times New Roman"/>
              </a:rPr>
              <a:t>Dr. Rohith Bhat C</a:t>
            </a:r>
            <a:endParaRPr sz="1129" dirty="0">
              <a:latin typeface="Times New Roman"/>
              <a:cs typeface="Times New Roman"/>
            </a:endParaRPr>
          </a:p>
          <a:p>
            <a:pPr marL="29864" marR="934147">
              <a:lnSpc>
                <a:spcPct val="102499"/>
              </a:lnSpc>
              <a:spcBef>
                <a:spcPts val="752"/>
              </a:spcBef>
            </a:pPr>
            <a:r>
              <a:rPr lang="en-US" sz="1129" b="1" spc="-9" dirty="0">
                <a:latin typeface="Times New Roman"/>
                <a:cs typeface="Times New Roman"/>
              </a:rPr>
              <a:t>Professor</a:t>
            </a:r>
            <a:endParaRPr sz="1129" dirty="0">
              <a:latin typeface="Times New Roman"/>
              <a:cs typeface="Times New Roman"/>
            </a:endParaRPr>
          </a:p>
          <a:p>
            <a:pPr marL="29864" marR="23891">
              <a:lnSpc>
                <a:spcPct val="102499"/>
              </a:lnSpc>
            </a:pPr>
            <a:r>
              <a:rPr lang="en-US" sz="1129" b="1" dirty="0">
                <a:latin typeface="Times New Roman"/>
                <a:cs typeface="Times New Roman"/>
              </a:rPr>
              <a:t>Department of CSE</a:t>
            </a:r>
          </a:p>
          <a:p>
            <a:pPr marL="29864" marR="23891">
              <a:lnSpc>
                <a:spcPct val="102499"/>
              </a:lnSpc>
            </a:pPr>
            <a:r>
              <a:rPr sz="1129" b="1" spc="-9" dirty="0">
                <a:latin typeface="Times New Roman"/>
                <a:cs typeface="Times New Roman"/>
              </a:rPr>
              <a:t>SIMATS</a:t>
            </a:r>
            <a:r>
              <a:rPr sz="1129" b="1" spc="-28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Engineering,</a:t>
            </a:r>
            <a:endParaRPr sz="1129" dirty="0">
              <a:latin typeface="Times New Roman"/>
              <a:cs typeface="Times New Roman"/>
            </a:endParaRPr>
          </a:p>
          <a:p>
            <a:pPr marL="11946">
              <a:spcBef>
                <a:spcPts val="33"/>
              </a:spcBef>
            </a:pPr>
            <a:r>
              <a:rPr sz="1129" b="1" spc="-9" dirty="0">
                <a:latin typeface="Times New Roman"/>
                <a:cs typeface="Times New Roman"/>
              </a:rPr>
              <a:t>SIMATS, </a:t>
            </a:r>
            <a:r>
              <a:rPr sz="1129" b="1" dirty="0">
                <a:latin typeface="Times New Roman"/>
                <a:cs typeface="Times New Roman"/>
              </a:rPr>
              <a:t>Chennai</a:t>
            </a:r>
            <a:r>
              <a:rPr sz="1129" b="1" spc="-5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–</a:t>
            </a:r>
            <a:r>
              <a:rPr sz="1129" b="1" spc="-5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602105.</a:t>
            </a:r>
            <a:endParaRPr sz="1129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493" y="657553"/>
            <a:ext cx="5415051" cy="5547155"/>
          </a:xfrm>
          <a:prstGeom prst="rect">
            <a:avLst/>
          </a:prstGeom>
        </p:spPr>
        <p:txBody>
          <a:bodyPr vert="horz" wrap="square" lIns="0" tIns="185161" rIns="0" bIns="0" rtlCol="0">
            <a:spAutoFit/>
          </a:bodyPr>
          <a:lstStyle/>
          <a:p>
            <a:pPr algn="ctr">
              <a:spcBef>
                <a:spcPts val="1458"/>
              </a:spcBef>
            </a:pPr>
            <a:r>
              <a:rPr sz="2069" b="1" spc="-19" dirty="0">
                <a:latin typeface="Times New Roman"/>
                <a:cs typeface="Times New Roman"/>
              </a:rPr>
              <a:t>SIMATS</a:t>
            </a:r>
            <a:r>
              <a:rPr sz="2069" b="1" spc="-89" dirty="0">
                <a:latin typeface="Times New Roman"/>
                <a:cs typeface="Times New Roman"/>
              </a:rPr>
              <a:t> </a:t>
            </a:r>
            <a:r>
              <a:rPr sz="2069" b="1" spc="-9" dirty="0">
                <a:latin typeface="Times New Roman"/>
                <a:cs typeface="Times New Roman"/>
              </a:rPr>
              <a:t>ENGINEERING</a:t>
            </a:r>
            <a:endParaRPr sz="2069" dirty="0">
              <a:latin typeface="Times New Roman"/>
              <a:cs typeface="Times New Roman"/>
            </a:endParaRPr>
          </a:p>
          <a:p>
            <a:pPr marL="829623" marR="822455" algn="ctr">
              <a:lnSpc>
                <a:spcPts val="2493"/>
              </a:lnSpc>
              <a:spcBef>
                <a:spcPts val="188"/>
              </a:spcBef>
            </a:pPr>
            <a:r>
              <a:rPr sz="1317" b="1" dirty="0">
                <a:latin typeface="Times New Roman"/>
                <a:cs typeface="Times New Roman"/>
              </a:rPr>
              <a:t>Saveetha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Institute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of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Medical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and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spc="-19" dirty="0">
                <a:latin typeface="Times New Roman"/>
                <a:cs typeface="Times New Roman"/>
              </a:rPr>
              <a:t>Technical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spc="-9" dirty="0">
                <a:latin typeface="Times New Roman"/>
                <a:cs typeface="Times New Roman"/>
              </a:rPr>
              <a:t>Sciences Chennai-602105</a:t>
            </a:r>
            <a:endParaRPr sz="1317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17" dirty="0">
              <a:latin typeface="Times New Roman"/>
              <a:cs typeface="Times New Roman"/>
            </a:endParaRPr>
          </a:p>
          <a:p>
            <a:pPr>
              <a:spcBef>
                <a:spcPts val="663"/>
              </a:spcBef>
            </a:pPr>
            <a:endParaRPr sz="1317" dirty="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</a:pPr>
            <a:r>
              <a:rPr sz="1881" b="1" spc="-9" dirty="0">
                <a:latin typeface="Times New Roman"/>
                <a:cs typeface="Times New Roman"/>
              </a:rPr>
              <a:t>DECLARATION</a:t>
            </a:r>
            <a:endParaRPr sz="1881" dirty="0">
              <a:latin typeface="Times New Roman"/>
              <a:cs typeface="Times New Roman"/>
            </a:endParaRPr>
          </a:p>
          <a:p>
            <a:pPr>
              <a:spcBef>
                <a:spcPts val="578"/>
              </a:spcBef>
            </a:pPr>
            <a:endParaRPr sz="1881" dirty="0">
              <a:latin typeface="Times New Roman"/>
              <a:cs typeface="Times New Roman"/>
            </a:endParaRPr>
          </a:p>
          <a:p>
            <a:pPr marL="11946" marR="4778" indent="430042" algn="just">
              <a:lnSpc>
                <a:spcPct val="143700"/>
              </a:lnSpc>
              <a:spcBef>
                <a:spcPts val="5"/>
              </a:spcBef>
            </a:pPr>
            <a:r>
              <a:rPr lang="en-US" sz="1129" b="1" spc="-9" dirty="0">
                <a:latin typeface="Times New Roman"/>
                <a:cs typeface="Times New Roman"/>
              </a:rPr>
              <a:t>I </a:t>
            </a:r>
            <a:r>
              <a:rPr lang="en-US" sz="1129" b="1" spc="-9" dirty="0" err="1">
                <a:latin typeface="Times New Roman"/>
                <a:cs typeface="Times New Roman"/>
              </a:rPr>
              <a:t>D.Jeevanshine</a:t>
            </a:r>
            <a:r>
              <a:rPr lang="en-US" sz="1129" b="1" spc="-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-3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lang="en-US" sz="1129" b="1" spc="-28" dirty="0">
                <a:latin typeface="Times New Roman"/>
                <a:cs typeface="Times New Roman"/>
              </a:rPr>
              <a:t> </a:t>
            </a:r>
            <a:r>
              <a:rPr lang="en-US" sz="1129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Cyber security </a:t>
            </a:r>
            <a:r>
              <a:rPr lang="en-US"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department</a:t>
            </a:r>
            <a:r>
              <a:rPr sz="1129" b="1" dirty="0">
                <a:latin typeface="Times New Roman"/>
                <a:cs typeface="Times New Roman"/>
              </a:rPr>
              <a:t>,</a:t>
            </a:r>
            <a:r>
              <a:rPr sz="1129" b="1" spc="-28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SIMATS</a:t>
            </a:r>
            <a:r>
              <a:rPr sz="1129" b="1" spc="-2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Engineering,</a:t>
            </a:r>
            <a:r>
              <a:rPr sz="1129" b="1" spc="-28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Saveetha </a:t>
            </a:r>
            <a:r>
              <a:rPr sz="1129" b="1" dirty="0">
                <a:latin typeface="Times New Roman"/>
                <a:cs typeface="Times New Roman"/>
              </a:rPr>
              <a:t>Institute</a:t>
            </a:r>
            <a:r>
              <a:rPr sz="1129" b="1" spc="4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4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Medical</a:t>
            </a:r>
            <a:r>
              <a:rPr sz="1129" b="1" spc="4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and</a:t>
            </a:r>
            <a:r>
              <a:rPr sz="1129" b="1" spc="47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Technical</a:t>
            </a:r>
            <a:r>
              <a:rPr sz="1129" b="1" spc="4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Sciences,</a:t>
            </a:r>
            <a:r>
              <a:rPr sz="1129" b="1" spc="4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Chennai,</a:t>
            </a:r>
            <a:r>
              <a:rPr sz="1129" b="1" spc="4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hereby</a:t>
            </a:r>
            <a:r>
              <a:rPr sz="1129" b="1" spc="4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declare</a:t>
            </a:r>
            <a:r>
              <a:rPr sz="1129" b="1" spc="-2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that</a:t>
            </a:r>
            <a:r>
              <a:rPr sz="1129" b="1" spc="-1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-24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Capstone </a:t>
            </a:r>
            <a:r>
              <a:rPr sz="1129" b="1" dirty="0">
                <a:latin typeface="Times New Roman"/>
                <a:cs typeface="Times New Roman"/>
              </a:rPr>
              <a:t>Project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Work</a:t>
            </a:r>
            <a:r>
              <a:rPr sz="1129" b="1" spc="3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entitled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“</a:t>
            </a:r>
            <a:r>
              <a:rPr lang="en-US"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Text Analytics and Word Frequency Counter</a:t>
            </a:r>
            <a:r>
              <a:rPr sz="1129" b="1" dirty="0">
                <a:latin typeface="Times New Roman"/>
                <a:cs typeface="Times New Roman"/>
              </a:rPr>
              <a:t>”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is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result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lang="en-US" sz="1129" b="1" dirty="0">
                <a:latin typeface="Times New Roman"/>
                <a:cs typeface="Times New Roman"/>
              </a:rPr>
              <a:t>my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own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bonafide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efforts.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To</a:t>
            </a:r>
            <a:r>
              <a:rPr sz="1129" b="1" spc="38" dirty="0">
                <a:latin typeface="Times New Roman"/>
                <a:cs typeface="Times New Roman"/>
              </a:rPr>
              <a:t> </a:t>
            </a:r>
            <a:r>
              <a:rPr sz="1129" b="1" spc="-24" dirty="0">
                <a:latin typeface="Times New Roman"/>
                <a:cs typeface="Times New Roman"/>
              </a:rPr>
              <a:t>the </a:t>
            </a:r>
            <a:r>
              <a:rPr sz="1129" b="1" dirty="0">
                <a:latin typeface="Times New Roman"/>
                <a:cs typeface="Times New Roman"/>
              </a:rPr>
              <a:t>best</a:t>
            </a:r>
            <a:r>
              <a:rPr sz="1129" b="1" spc="18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lang="en-US" sz="1129" b="1" spc="192" dirty="0">
                <a:latin typeface="Times New Roman"/>
                <a:cs typeface="Times New Roman"/>
              </a:rPr>
              <a:t>my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knowledge,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work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presented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herein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is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original,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accurate,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and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has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spc="-19" dirty="0">
                <a:latin typeface="Times New Roman"/>
                <a:cs typeface="Times New Roman"/>
              </a:rPr>
              <a:t>been </a:t>
            </a:r>
            <a:r>
              <a:rPr sz="1129" b="1" dirty="0">
                <a:latin typeface="Times New Roman"/>
                <a:cs typeface="Times New Roman"/>
              </a:rPr>
              <a:t>carried</a:t>
            </a:r>
            <a:r>
              <a:rPr sz="1129" b="1" spc="32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out</a:t>
            </a:r>
            <a:r>
              <a:rPr sz="1129" b="1" spc="32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in</a:t>
            </a:r>
            <a:r>
              <a:rPr sz="1129" b="1" spc="32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accordance</a:t>
            </a:r>
            <a:r>
              <a:rPr sz="1129" b="1" spc="32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with</a:t>
            </a:r>
            <a:r>
              <a:rPr sz="1129" b="1" spc="32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32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principles</a:t>
            </a:r>
            <a:r>
              <a:rPr sz="1129" b="1" spc="32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33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engineering</a:t>
            </a:r>
            <a:r>
              <a:rPr sz="1129" b="1" spc="32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ethics</a:t>
            </a:r>
            <a:r>
              <a:rPr sz="1129" b="1" spc="25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and</a:t>
            </a:r>
            <a:r>
              <a:rPr sz="1129" b="1" spc="263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academic integrity.</a:t>
            </a:r>
            <a:r>
              <a:rPr sz="1129" b="1" spc="-2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All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sources,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references,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data,</a:t>
            </a:r>
            <a:r>
              <a:rPr sz="1129" b="1" spc="-1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and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other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materials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used</a:t>
            </a:r>
            <a:r>
              <a:rPr sz="1129" b="1" spc="-1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in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project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have</a:t>
            </a:r>
            <a:r>
              <a:rPr sz="1129" b="1" spc="-14" dirty="0">
                <a:latin typeface="Times New Roman"/>
                <a:cs typeface="Times New Roman"/>
              </a:rPr>
              <a:t> </a:t>
            </a:r>
            <a:r>
              <a:rPr sz="1129" b="1" spc="-19" dirty="0">
                <a:latin typeface="Times New Roman"/>
                <a:cs typeface="Times New Roman"/>
              </a:rPr>
              <a:t>been </a:t>
            </a:r>
            <a:r>
              <a:rPr sz="1129" b="1" dirty="0">
                <a:latin typeface="Times New Roman"/>
                <a:cs typeface="Times New Roman"/>
              </a:rPr>
              <a:t>appropriately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acknowledged.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lang="en-US" sz="1129" b="1" dirty="0">
                <a:latin typeface="Times New Roman"/>
                <a:cs typeface="Times New Roman"/>
              </a:rPr>
              <a:t>I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further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declare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that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data,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results,</a:t>
            </a:r>
            <a:r>
              <a:rPr sz="1129" b="1" spc="18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analysis,</a:t>
            </a:r>
            <a:r>
              <a:rPr sz="1129" b="1" spc="118" dirty="0">
                <a:latin typeface="Times New Roman"/>
                <a:cs typeface="Times New Roman"/>
              </a:rPr>
              <a:t> </a:t>
            </a:r>
            <a:r>
              <a:rPr sz="1129" b="1" spc="-24" dirty="0">
                <a:latin typeface="Times New Roman"/>
                <a:cs typeface="Times New Roman"/>
              </a:rPr>
              <a:t>and </a:t>
            </a:r>
            <a:r>
              <a:rPr sz="1129" b="1" dirty="0">
                <a:latin typeface="Times New Roman"/>
                <a:cs typeface="Times New Roman"/>
              </a:rPr>
              <a:t>findings</a:t>
            </a:r>
            <a:r>
              <a:rPr sz="1129" b="1" spc="18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presented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in</a:t>
            </a:r>
            <a:r>
              <a:rPr sz="1129" b="1" spc="18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this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report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have</a:t>
            </a:r>
            <a:r>
              <a:rPr sz="1129" b="1" spc="18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not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been</a:t>
            </a:r>
            <a:r>
              <a:rPr sz="1129" b="1" spc="18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fabricated,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falsified,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or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manipulated. </a:t>
            </a:r>
            <a:r>
              <a:rPr sz="1129" b="1" dirty="0">
                <a:latin typeface="Times New Roman"/>
                <a:cs typeface="Times New Roman"/>
              </a:rPr>
              <a:t>Any</a:t>
            </a:r>
            <a:r>
              <a:rPr sz="1129" b="1" spc="25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external</a:t>
            </a:r>
            <a:r>
              <a:rPr sz="1129" b="1" spc="26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tools,</a:t>
            </a:r>
            <a:r>
              <a:rPr sz="1129" b="1" spc="26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software,</a:t>
            </a:r>
            <a:r>
              <a:rPr sz="1129" b="1" spc="25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datasets,</a:t>
            </a:r>
            <a:r>
              <a:rPr sz="1129" b="1" spc="26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computational</a:t>
            </a:r>
            <a:r>
              <a:rPr sz="1129" b="1" spc="263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resources,</a:t>
            </a:r>
            <a:r>
              <a:rPr sz="1129" b="1" spc="25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or</a:t>
            </a:r>
            <a:r>
              <a:rPr sz="1129" b="1" spc="198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AI-assisted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spc="-9" dirty="0">
                <a:latin typeface="Times New Roman"/>
                <a:cs typeface="Times New Roman"/>
              </a:rPr>
              <a:t>tools </a:t>
            </a:r>
            <a:r>
              <a:rPr sz="1129" b="1" dirty="0">
                <a:latin typeface="Times New Roman"/>
                <a:cs typeface="Times New Roman"/>
              </a:rPr>
              <a:t>used</a:t>
            </a:r>
            <a:r>
              <a:rPr sz="1129" b="1" spc="400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during</a:t>
            </a:r>
            <a:r>
              <a:rPr sz="1129" b="1" spc="400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40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project</a:t>
            </a:r>
            <a:r>
              <a:rPr sz="1129" b="1" spc="400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have</a:t>
            </a:r>
            <a:r>
              <a:rPr sz="1129" b="1" spc="40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been</a:t>
            </a:r>
            <a:r>
              <a:rPr sz="1129" b="1" spc="400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appropriately</a:t>
            </a:r>
            <a:r>
              <a:rPr sz="1129" b="1" spc="400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disclosed.</a:t>
            </a:r>
            <a:r>
              <a:rPr sz="1129" b="1" spc="404" dirty="0">
                <a:latin typeface="Times New Roman"/>
                <a:cs typeface="Times New Roman"/>
              </a:rPr>
              <a:t> </a:t>
            </a:r>
            <a:r>
              <a:rPr lang="en-US" sz="1129" b="1" dirty="0">
                <a:latin typeface="Times New Roman"/>
                <a:cs typeface="Times New Roman"/>
              </a:rPr>
              <a:t>I</a:t>
            </a:r>
            <a:r>
              <a:rPr sz="1129" b="1" spc="400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confirm</a:t>
            </a:r>
            <a:r>
              <a:rPr sz="1129" b="1" spc="404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that</a:t>
            </a:r>
            <a:r>
              <a:rPr sz="1129" b="1" spc="400" dirty="0">
                <a:latin typeface="Times New Roman"/>
                <a:cs typeface="Times New Roman"/>
              </a:rPr>
              <a:t> </a:t>
            </a:r>
            <a:r>
              <a:rPr sz="1129" b="1" spc="-24" dirty="0">
                <a:latin typeface="Times New Roman"/>
                <a:cs typeface="Times New Roman"/>
              </a:rPr>
              <a:t>all </a:t>
            </a:r>
            <a:r>
              <a:rPr sz="1129" b="1" dirty="0">
                <a:latin typeface="Times New Roman"/>
                <a:cs typeface="Times New Roman"/>
              </a:rPr>
              <a:t>applicable</a:t>
            </a:r>
            <a:r>
              <a:rPr sz="1129" b="1" spc="245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ethical,</a:t>
            </a:r>
            <a:r>
              <a:rPr sz="1129" b="1" spc="24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academic,</a:t>
            </a:r>
            <a:r>
              <a:rPr sz="1129" b="1" spc="24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institutional,</a:t>
            </a:r>
            <a:r>
              <a:rPr sz="1129" b="1" spc="24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and</a:t>
            </a:r>
            <a:r>
              <a:rPr sz="1129" b="1" spc="24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professional</a:t>
            </a:r>
            <a:r>
              <a:rPr sz="1129" b="1" spc="24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requirements</a:t>
            </a:r>
            <a:r>
              <a:rPr sz="1129" b="1" spc="249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have</a:t>
            </a:r>
            <a:r>
              <a:rPr sz="1129" b="1" spc="249" dirty="0">
                <a:latin typeface="Times New Roman"/>
                <a:cs typeface="Times New Roman"/>
              </a:rPr>
              <a:t> </a:t>
            </a:r>
            <a:r>
              <a:rPr sz="1129" b="1" spc="-19" dirty="0">
                <a:latin typeface="Times New Roman"/>
                <a:cs typeface="Times New Roman"/>
              </a:rPr>
              <a:t>been </a:t>
            </a:r>
            <a:r>
              <a:rPr sz="1129" b="1" dirty="0">
                <a:latin typeface="Times New Roman"/>
                <a:cs typeface="Times New Roman"/>
              </a:rPr>
              <a:t>duly</a:t>
            </a:r>
            <a:r>
              <a:rPr sz="1129" b="1" spc="19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followed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throughout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the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planning,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execution,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analysis,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and</a:t>
            </a:r>
            <a:r>
              <a:rPr sz="1129" b="1" spc="122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documentation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dirty="0">
                <a:latin typeface="Times New Roman"/>
                <a:cs typeface="Times New Roman"/>
              </a:rPr>
              <a:t>of</a:t>
            </a:r>
            <a:r>
              <a:rPr sz="1129" b="1" spc="127" dirty="0">
                <a:latin typeface="Times New Roman"/>
                <a:cs typeface="Times New Roman"/>
              </a:rPr>
              <a:t> </a:t>
            </a:r>
            <a:r>
              <a:rPr sz="1129" b="1" spc="-24" dirty="0">
                <a:latin typeface="Times New Roman"/>
                <a:cs typeface="Times New Roman"/>
              </a:rPr>
              <a:t>the </a:t>
            </a:r>
            <a:r>
              <a:rPr sz="1129" b="1" spc="-9" dirty="0">
                <a:latin typeface="Times New Roman"/>
                <a:cs typeface="Times New Roman"/>
              </a:rPr>
              <a:t>project.</a:t>
            </a:r>
            <a:endParaRPr sz="1129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3" y="6809004"/>
            <a:ext cx="1708256" cy="624923"/>
          </a:xfrm>
          <a:prstGeom prst="rect">
            <a:avLst/>
          </a:prstGeom>
        </p:spPr>
        <p:txBody>
          <a:bodyPr vert="horz" wrap="square" lIns="0" tIns="11946" rIns="0" bIns="0" rtlCol="0">
            <a:spAutoFit/>
          </a:bodyPr>
          <a:lstStyle/>
          <a:p>
            <a:pPr marL="11946" marR="4778">
              <a:lnSpc>
                <a:spcPct val="157800"/>
              </a:lnSpc>
              <a:spcBef>
                <a:spcPts val="94"/>
              </a:spcBef>
            </a:pPr>
            <a:r>
              <a:rPr sz="1317" b="1" spc="-9" dirty="0">
                <a:latin typeface="Times New Roman"/>
                <a:cs typeface="Times New Roman"/>
              </a:rPr>
              <a:t>Place: </a:t>
            </a:r>
            <a:endParaRPr lang="en-US" sz="1317" b="1" spc="-9" dirty="0">
              <a:latin typeface="Times New Roman"/>
              <a:cs typeface="Times New Roman"/>
            </a:endParaRPr>
          </a:p>
          <a:p>
            <a:pPr marL="11946" marR="4778">
              <a:lnSpc>
                <a:spcPct val="157800"/>
              </a:lnSpc>
              <a:spcBef>
                <a:spcPts val="94"/>
              </a:spcBef>
            </a:pPr>
            <a:r>
              <a:rPr sz="1317" b="1" spc="-9" dirty="0">
                <a:latin typeface="Times New Roman"/>
                <a:cs typeface="Times New Roman"/>
              </a:rPr>
              <a:t>Date:</a:t>
            </a:r>
            <a:endParaRPr sz="1317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494" y="8326253"/>
            <a:ext cx="860101" cy="214747"/>
          </a:xfrm>
          <a:prstGeom prst="rect">
            <a:avLst/>
          </a:prstGeom>
        </p:spPr>
        <p:txBody>
          <a:bodyPr vert="horz" wrap="square" lIns="0" tIns="11946" rIns="0" bIns="0" rtlCol="0">
            <a:spAutoFit/>
          </a:bodyPr>
          <a:lstStyle/>
          <a:p>
            <a:pPr marL="11946">
              <a:spcBef>
                <a:spcPts val="94"/>
              </a:spcBef>
            </a:pPr>
            <a:r>
              <a:rPr sz="1317" b="1" dirty="0">
                <a:latin typeface="Times New Roman"/>
                <a:cs typeface="Times New Roman"/>
              </a:rPr>
              <a:t>Signature</a:t>
            </a:r>
            <a:endParaRPr sz="1317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6965" y="0"/>
            <a:ext cx="3778470" cy="2030487"/>
          </a:xfrm>
          <a:prstGeom prst="rect">
            <a:avLst/>
          </a:prstGeom>
        </p:spPr>
        <p:txBody>
          <a:bodyPr vert="horz" wrap="square" lIns="0" tIns="185161" rIns="0" bIns="0" rtlCol="0">
            <a:spAutoFit/>
          </a:bodyPr>
          <a:lstStyle/>
          <a:p>
            <a:pPr algn="ctr">
              <a:spcBef>
                <a:spcPts val="1458"/>
              </a:spcBef>
            </a:pPr>
            <a:r>
              <a:rPr sz="2069" b="1" spc="-19" dirty="0">
                <a:latin typeface="Times New Roman"/>
                <a:cs typeface="Times New Roman"/>
              </a:rPr>
              <a:t>SIMATS</a:t>
            </a:r>
            <a:r>
              <a:rPr sz="2069" b="1" spc="-89" dirty="0">
                <a:latin typeface="Times New Roman"/>
                <a:cs typeface="Times New Roman"/>
              </a:rPr>
              <a:t> </a:t>
            </a:r>
            <a:r>
              <a:rPr sz="2069" b="1" spc="-9" dirty="0">
                <a:latin typeface="Times New Roman"/>
                <a:cs typeface="Times New Roman"/>
              </a:rPr>
              <a:t>ENGINEERING</a:t>
            </a:r>
            <a:endParaRPr sz="2069" dirty="0">
              <a:latin typeface="Times New Roman"/>
              <a:cs typeface="Times New Roman"/>
            </a:endParaRPr>
          </a:p>
          <a:p>
            <a:pPr marL="11946" marR="4778" algn="ctr">
              <a:lnSpc>
                <a:spcPts val="2493"/>
              </a:lnSpc>
              <a:spcBef>
                <a:spcPts val="188"/>
              </a:spcBef>
            </a:pPr>
            <a:r>
              <a:rPr sz="1317" b="1" dirty="0">
                <a:latin typeface="Times New Roman"/>
                <a:cs typeface="Times New Roman"/>
              </a:rPr>
              <a:t>Saveetha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Institute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of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Medical</a:t>
            </a:r>
            <a:r>
              <a:rPr sz="1317" b="1" spc="-38" dirty="0">
                <a:latin typeface="Times New Roman"/>
                <a:cs typeface="Times New Roman"/>
              </a:rPr>
              <a:t> </a:t>
            </a:r>
            <a:r>
              <a:rPr sz="1317" b="1" dirty="0">
                <a:latin typeface="Times New Roman"/>
                <a:cs typeface="Times New Roman"/>
              </a:rPr>
              <a:t>and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spc="-19" dirty="0">
                <a:latin typeface="Times New Roman"/>
                <a:cs typeface="Times New Roman"/>
              </a:rPr>
              <a:t>Technical</a:t>
            </a:r>
            <a:r>
              <a:rPr sz="1317" b="1" spc="-33" dirty="0">
                <a:latin typeface="Times New Roman"/>
                <a:cs typeface="Times New Roman"/>
              </a:rPr>
              <a:t> </a:t>
            </a:r>
            <a:r>
              <a:rPr sz="1317" b="1" spc="-9" dirty="0">
                <a:latin typeface="Times New Roman"/>
                <a:cs typeface="Times New Roman"/>
              </a:rPr>
              <a:t>Sciences Chennai-602105</a:t>
            </a:r>
            <a:endParaRPr sz="1317" dirty="0">
              <a:latin typeface="Times New Roman"/>
              <a:cs typeface="Times New Roman"/>
            </a:endParaRPr>
          </a:p>
          <a:p>
            <a:pPr>
              <a:spcBef>
                <a:spcPts val="66"/>
              </a:spcBef>
            </a:pPr>
            <a:endParaRPr sz="1317" dirty="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</a:pPr>
            <a:r>
              <a:rPr sz="1881" b="1" dirty="0">
                <a:latin typeface="Times New Roman"/>
                <a:cs typeface="Times New Roman"/>
              </a:rPr>
              <a:t>Individual</a:t>
            </a:r>
            <a:r>
              <a:rPr sz="1881" b="1" spc="-89" dirty="0">
                <a:latin typeface="Times New Roman"/>
                <a:cs typeface="Times New Roman"/>
              </a:rPr>
              <a:t> </a:t>
            </a:r>
            <a:r>
              <a:rPr sz="1881" b="1" dirty="0">
                <a:latin typeface="Times New Roman"/>
                <a:cs typeface="Times New Roman"/>
              </a:rPr>
              <a:t>Contribution</a:t>
            </a:r>
            <a:r>
              <a:rPr sz="1881" b="1" spc="-89" dirty="0">
                <a:latin typeface="Times New Roman"/>
                <a:cs typeface="Times New Roman"/>
              </a:rPr>
              <a:t> </a:t>
            </a:r>
            <a:r>
              <a:rPr sz="1881" b="1" spc="-9" dirty="0">
                <a:latin typeface="Times New Roman"/>
                <a:cs typeface="Times New Roman"/>
              </a:rPr>
              <a:t>Statement</a:t>
            </a:r>
            <a:endParaRPr sz="1881" dirty="0">
              <a:latin typeface="Times New Roman"/>
              <a:cs typeface="Times New Roman"/>
            </a:endParaRPr>
          </a:p>
          <a:p>
            <a:pPr algn="ctr">
              <a:spcBef>
                <a:spcPts val="1406"/>
              </a:spcBef>
            </a:pPr>
            <a:r>
              <a:rPr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(Mandatory</a:t>
            </a:r>
            <a:r>
              <a:rPr sz="1129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129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1129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29" b="1" dirty="0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sz="1129" b="1" spc="-2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29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projects)</a:t>
            </a:r>
            <a:endParaRPr sz="1129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122" y="2210584"/>
          <a:ext cx="7024155" cy="7816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1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6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00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9535" marR="85090" algn="ctr">
                        <a:lnSpc>
                          <a:spcPct val="1102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Student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1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Register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Specific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Responsibilities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9535" marR="75565" indent="124460">
                        <a:lnSpc>
                          <a:spcPct val="1102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Design 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Development Contribution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52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5580" marR="191135" algn="ctr">
                        <a:lnSpc>
                          <a:spcPct val="1102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Contribution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152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 marR="77470" indent="198755">
                        <a:lnSpc>
                          <a:spcPct val="1102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Report Contribution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Approx.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8740" marR="74295" algn="ctr">
                        <a:lnSpc>
                          <a:spcPct val="1102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Contribution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(%)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3259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52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321945" marR="101600" indent="-216535">
                        <a:lnSpc>
                          <a:spcPct val="110200"/>
                        </a:lnSpc>
                        <a:spcBef>
                          <a:spcPts val="5"/>
                        </a:spcBef>
                      </a:pPr>
                      <a:r>
                        <a:rPr lang="en-US" sz="11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 Sidharth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6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68580" algn="ctr">
                        <a:lnSpc>
                          <a:spcPct val="100000"/>
                        </a:lnSpc>
                      </a:pPr>
                      <a:endParaRPr lang="en-IN" sz="1100" dirty="0"/>
                    </a:p>
                    <a:p>
                      <a:pPr marL="82550" marR="6858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Problem definition, project objectives, overall workflow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32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marR="67310" algn="ctr">
                        <a:lnSpc>
                          <a:spcPct val="100000"/>
                        </a:lnSpc>
                      </a:pPr>
                      <a:endParaRPr lang="en-IN" sz="1100" dirty="0"/>
                    </a:p>
                    <a:p>
                      <a:pPr marL="81280" marR="6731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Designed overall system architecture and data flow; contributed to CLI workflow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32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lang="en-IN" sz="1100" dirty="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lang="en-IN" sz="1100" dirty="0" err="1"/>
                        <a:t>Analyzed</a:t>
                      </a:r>
                      <a:r>
                        <a:rPr lang="en-IN" sz="1100" dirty="0"/>
                        <a:t> overall pipeline and verified expected system flow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6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98425" indent="1143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100" dirty="0"/>
                        <a:t>Prepared problem statement, objectives and architecture sections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16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lang="en-IN" sz="1100" dirty="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n-IN" sz="1100" dirty="0"/>
                        <a:t>20%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85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321945" marR="101600" indent="-216535">
                        <a:lnSpc>
                          <a:spcPct val="110200"/>
                        </a:lnSpc>
                      </a:pPr>
                      <a:r>
                        <a:rPr lang="en-US" sz="11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 Jeevan Shine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2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2550" marR="6858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Text preprocessing and String module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47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1280" marR="6731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Developed text cleaning using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lower()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str.maketrans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translate()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split()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strip()</a:t>
                      </a:r>
                      <a:r>
                        <a:rPr lang="en-IN" sz="1100" dirty="0"/>
                        <a:t> and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isalpha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47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0340" marR="87630" indent="-8890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Tested text normalization, punctuation removal and tokenization accuracy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2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96520" marR="98425" indent="11430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Tested text normalization, punctuation removal and tokenization accuracy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2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lang="en-IN" sz="1100" dirty="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n-IN" sz="1100" dirty="0"/>
                        <a:t>20%</a:t>
                      </a:r>
                      <a:endParaRPr lang="en-IN"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97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321945" marR="101600" indent="-216535">
                        <a:lnSpc>
                          <a:spcPct val="110200"/>
                        </a:lnSpc>
                      </a:pPr>
                      <a:r>
                        <a:rPr lang="en-US" sz="11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Kavin P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0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2550" marR="6858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File handling and exception strategy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6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1280" marR="6731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Implemented safe file I/O using context managers and encoding fallback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6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 marR="87630" indent="-8890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Tested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FileNotFoundError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UnicodeDecodeError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PermissionError</a:t>
                      </a:r>
                      <a:r>
                        <a:rPr lang="en-IN" sz="1100" dirty="0"/>
                        <a:t> and invalid inputs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0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98425" indent="11430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Exceptions section and exception-handling documentation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0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n-IN" sz="1100" dirty="0"/>
                        <a:t>20%</a:t>
                      </a:r>
                      <a:endParaRPr lang="en-IN"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00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321945" marR="101600" indent="-216535">
                        <a:lnSpc>
                          <a:spcPct val="110200"/>
                        </a:lnSpc>
                      </a:pPr>
                      <a:r>
                        <a:rPr lang="en-US" sz="11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Abdul Rahman M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8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2550" marR="6858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Modular code structure and CLI development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89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marR="6731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Organized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text_analyzer</a:t>
                      </a:r>
                      <a:r>
                        <a:rPr lang="en-IN" sz="1100" dirty="0"/>
                        <a:t> package into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cleaner.py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counter.py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file_handler.py</a:t>
                      </a:r>
                      <a:r>
                        <a:rPr lang="en-IN" sz="1100" dirty="0"/>
                        <a:t>; contributed to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argparse</a:t>
                      </a:r>
                      <a:r>
                        <a:rPr lang="en-IN" sz="1100" dirty="0"/>
                        <a:t> CLI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89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0340" marR="87630" indent="-88900" algn="l">
                        <a:lnSpc>
                          <a:spcPct val="100000"/>
                        </a:lnSpc>
                      </a:pPr>
                      <a:r>
                        <a:rPr lang="en-IN" sz="1100" dirty="0"/>
                        <a:t>Tested CLI parameters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-s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-n</a:t>
                      </a:r>
                      <a:r>
                        <a:rPr lang="en-IN" sz="1100" dirty="0"/>
                        <a:t>, 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-o</a:t>
                      </a:r>
                      <a:r>
                        <a:rPr lang="en-IN" sz="1100" dirty="0"/>
                        <a:t> and module integration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8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96520" marR="98425" indent="114300"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Prepared Modules &amp; Packages and CLI documentation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8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lang="en-IN" sz="1100" dirty="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n-IN" sz="1100" dirty="0"/>
                        <a:t>20%</a:t>
                      </a:r>
                      <a:endParaRPr lang="en-IN"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9534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endParaRPr lang="en-US" sz="1100" b="1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3675">
                        <a:lnSpc>
                          <a:spcPct val="100000"/>
                        </a:lnSpc>
                      </a:pPr>
                      <a:endParaRPr lang="en-US" sz="1100" b="1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3675">
                        <a:lnSpc>
                          <a:spcPct val="100000"/>
                        </a:lnSpc>
                      </a:pPr>
                      <a:endParaRPr lang="en-US" sz="1100" b="1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3675" algn="l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H S Yogeshwaran </a:t>
                      </a:r>
                      <a:endParaRPr sz="1100" b="1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0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11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Results, analysis and future recommendations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11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Integration of the 6-stage processing pipeline and report-output functionality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11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100" dirty="0" err="1"/>
                        <a:t>Analyzed</a:t>
                      </a:r>
                      <a:r>
                        <a:rPr lang="en-IN" sz="1100" dirty="0"/>
                        <a:t> 109-word sample results, word counts, performance and fault tolerance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11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100" dirty="0"/>
                        <a:t>Prepared Results, Recommendations and Conclusion sections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20%</a:t>
                      </a:r>
                      <a:endParaRPr lang="en-IN"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1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24202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Total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100%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300470" cy="37950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ABSTRACT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37465" algn="ctr">
              <a:lnSpc>
                <a:spcPct val="100000"/>
              </a:lnSpc>
              <a:spcBef>
                <a:spcPts val="10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800"/>
              </a:lnSpc>
              <a:spcBef>
                <a:spcPts val="118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 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Python-based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utility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 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unstructured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commonly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mixed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casing,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arbitrary </a:t>
            </a:r>
            <a:r>
              <a:rPr sz="1200" dirty="0">
                <a:latin typeface="Times New Roman"/>
                <a:cs typeface="Times New Roman"/>
              </a:rPr>
              <a:t>punctuation,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noise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uninformative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10" dirty="0">
                <a:latin typeface="Times New Roman"/>
                <a:cs typeface="Times New Roman"/>
              </a:rPr>
              <a:t> inefficient.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334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tokenizes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stop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calculates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frequencies.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 while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input/output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stability.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13970" algn="just">
              <a:lnSpc>
                <a:spcPct val="100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modular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cleaning,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10" dirty="0">
                <a:latin typeface="Times New Roman"/>
                <a:cs typeface="Times New Roman"/>
              </a:rPr>
              <a:t> handling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dedicated </a:t>
            </a:r>
            <a:r>
              <a:rPr sz="1200" dirty="0">
                <a:latin typeface="Times New Roman"/>
                <a:cs typeface="Times New Roman"/>
              </a:rPr>
              <a:t>components.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interface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files, </a:t>
            </a:r>
            <a:r>
              <a:rPr sz="1200" dirty="0">
                <a:latin typeface="Times New Roman"/>
                <a:cs typeface="Times New Roman"/>
              </a:rPr>
              <a:t>stop-word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paths.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453390">
              <a:lnSpc>
                <a:spcPct val="100899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109-word</a:t>
            </a:r>
            <a:r>
              <a:rPr sz="1200" spc="-10" dirty="0">
                <a:latin typeface="Times New Roman"/>
                <a:cs typeface="Times New Roman"/>
              </a:rPr>
              <a:t> sample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 tokenization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counting. </a:t>
            </a:r>
            <a:r>
              <a:rPr sz="1200" dirty="0">
                <a:latin typeface="Times New Roman"/>
                <a:cs typeface="Times New Roman"/>
              </a:rPr>
              <a:t>It also provides</a:t>
            </a:r>
            <a:r>
              <a:rPr sz="1200" spc="-10" dirty="0">
                <a:latin typeface="Times New Roman"/>
                <a:cs typeface="Times New Roman"/>
              </a:rPr>
              <a:t> fault-</a:t>
            </a:r>
            <a:r>
              <a:rPr sz="1200" dirty="0">
                <a:latin typeface="Times New Roman"/>
                <a:cs typeface="Times New Roman"/>
              </a:rPr>
              <a:t>tolerant handling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 files,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invalid </a:t>
            </a:r>
            <a:r>
              <a:rPr sz="1200" dirty="0">
                <a:latin typeface="Times New Roman"/>
                <a:cs typeface="Times New Roman"/>
              </a:rPr>
              <a:t>parameters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issues.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99835" cy="37950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INTRODUCTION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41275" algn="ctr">
              <a:lnSpc>
                <a:spcPct val="100000"/>
              </a:lnSpc>
              <a:spcBef>
                <a:spcPts val="10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800"/>
              </a:lnSpc>
              <a:spcBef>
                <a:spcPts val="1180"/>
              </a:spcBef>
            </a:pP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textual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usually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unstructured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inconsistent.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combinations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uppercase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lowercase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characters,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punctuation </a:t>
            </a:r>
            <a:r>
              <a:rPr sz="1200" dirty="0">
                <a:latin typeface="Times New Roman"/>
                <a:cs typeface="Times New Roman"/>
              </a:rPr>
              <a:t>marks,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unnecessary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irregular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formatting.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difficult.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952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 </a:t>
            </a:r>
            <a:r>
              <a:rPr sz="1200" spc="-10" dirty="0">
                <a:latin typeface="Times New Roman"/>
                <a:cs typeface="Times New Roman"/>
              </a:rPr>
              <a:t>analytics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word-frequency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counting. Instead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manually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file, 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 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interface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systematically.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133350" algn="just">
              <a:lnSpc>
                <a:spcPct val="100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normalization,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removal,</a:t>
            </a:r>
            <a:r>
              <a:rPr sz="1200" spc="-10" dirty="0">
                <a:latin typeface="Times New Roman"/>
                <a:cs typeface="Times New Roman"/>
              </a:rPr>
              <a:t> tokenization,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stop-word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resulting </a:t>
            </a:r>
            <a:r>
              <a:rPr sz="1200" spc="-10" dirty="0">
                <a:latin typeface="Times New Roman"/>
                <a:cs typeface="Times New Roman"/>
              </a:rPr>
              <a:t>information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console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summary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178435">
              <a:lnSpc>
                <a:spcPct val="100899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practical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syllabus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Strings for </a:t>
            </a:r>
            <a:r>
              <a:rPr sz="1200" spc="-10" dirty="0">
                <a:latin typeface="Times New Roman"/>
                <a:cs typeface="Times New Roman"/>
              </a:rPr>
              <a:t>preprocessing,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&amp; </a:t>
            </a:r>
            <a:r>
              <a:rPr sz="1200" dirty="0">
                <a:latin typeface="Times New Roman"/>
                <a:cs typeface="Times New Roman"/>
              </a:rPr>
              <a:t>Exceptions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10" dirty="0">
                <a:latin typeface="Times New Roman"/>
                <a:cs typeface="Times New Roman"/>
              </a:rPr>
              <a:t>modular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35700" cy="55654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25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PROBLEM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STATEMENT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95250" algn="ctr">
              <a:lnSpc>
                <a:spcPct val="100000"/>
              </a:lnSpc>
              <a:spcBef>
                <a:spcPts val="10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49530">
              <a:lnSpc>
                <a:spcPct val="100800"/>
              </a:lnSpc>
              <a:spcBef>
                <a:spcPts val="1180"/>
              </a:spcBef>
            </a:pPr>
            <a:r>
              <a:rPr sz="1200" dirty="0">
                <a:latin typeface="Times New Roman"/>
                <a:cs typeface="Times New Roman"/>
              </a:rPr>
              <a:t>Unstructured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 </a:t>
            </a:r>
            <a:r>
              <a:rPr sz="1200" spc="-10" dirty="0">
                <a:latin typeface="Times New Roman"/>
                <a:cs typeface="Times New Roman"/>
              </a:rPr>
              <a:t>files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noise,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arbitrary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mixed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uninformative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stop </a:t>
            </a:r>
            <a:r>
              <a:rPr sz="1200" dirty="0">
                <a:latin typeface="Times New Roman"/>
                <a:cs typeface="Times New Roman"/>
              </a:rPr>
              <a:t>words.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 </a:t>
            </a:r>
            <a:r>
              <a:rPr sz="1200" spc="-10" dirty="0">
                <a:latin typeface="Times New Roman"/>
                <a:cs typeface="Times New Roman"/>
              </a:rPr>
              <a:t>characteristics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difficult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directly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 </a:t>
            </a:r>
            <a:r>
              <a:rPr sz="1200" spc="-10" dirty="0">
                <a:latin typeface="Times New Roman"/>
                <a:cs typeface="Times New Roman"/>
              </a:rPr>
              <a:t>meaningful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6413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terms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 </a:t>
            </a:r>
            <a:r>
              <a:rPr sz="1200" spc="-10" dirty="0">
                <a:latin typeface="Times New Roman"/>
                <a:cs typeface="Times New Roman"/>
              </a:rPr>
              <a:t>frequencies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inefficient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 file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large.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systematic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word </a:t>
            </a:r>
            <a:r>
              <a:rPr sz="1200" spc="-10" dirty="0">
                <a:latin typeface="Times New Roman"/>
                <a:cs typeface="Times New Roman"/>
              </a:rPr>
              <a:t>frequencies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accurately.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1699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 aims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develop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utility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 automates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cleaning,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counting, </a:t>
            </a:r>
            <a:r>
              <a:rPr sz="1200" spc="-10" dirty="0">
                <a:latin typeface="Times New Roman"/>
                <a:cs typeface="Times New Roman"/>
              </a:rPr>
              <a:t>filtering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Addressed: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Inconsistent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capitalization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20" dirty="0">
                <a:latin typeface="Times New Roman"/>
                <a:cs typeface="Times New Roman"/>
              </a:rPr>
              <a:t> word.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Presence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unwanted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characters.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Inclusion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uninformative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</a:t>
            </a:r>
            <a:r>
              <a:rPr sz="1200" spc="-10" dirty="0">
                <a:latin typeface="Times New Roman"/>
                <a:cs typeface="Times New Roman"/>
              </a:rPr>
              <a:t> words.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5"/>
              </a:spcBef>
              <a:buChar char="•"/>
              <a:tabLst>
                <a:tab pos="103505" algn="l"/>
              </a:tabLst>
            </a:pPr>
            <a:r>
              <a:rPr sz="1200" spc="-25" dirty="0">
                <a:latin typeface="Times New Roman"/>
                <a:cs typeface="Times New Roman"/>
              </a:rPr>
              <a:t>Time-</a:t>
            </a:r>
            <a:r>
              <a:rPr sz="1200" dirty="0">
                <a:latin typeface="Times New Roman"/>
                <a:cs typeface="Times New Roman"/>
              </a:rPr>
              <a:t>consuming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extraction.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0" dirty="0">
                <a:latin typeface="Times New Roman"/>
                <a:cs typeface="Times New Roman"/>
              </a:rPr>
              <a:t> inaccessible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character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encodings.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Solution:</a:t>
            </a:r>
            <a:endParaRPr sz="1200" dirty="0">
              <a:latin typeface="Times New Roman"/>
              <a:cs typeface="Times New Roman"/>
            </a:endParaRPr>
          </a:p>
          <a:p>
            <a:pPr marL="12700" marR="120014">
              <a:lnSpc>
                <a:spcPct val="101699"/>
              </a:lnSpc>
              <a:spcBef>
                <a:spcPts val="384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normalization,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validation,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stop-</a:t>
            </a:r>
            <a:r>
              <a:rPr sz="1200" spc="-20" dirty="0">
                <a:latin typeface="Times New Roman"/>
                <a:cs typeface="Times New Roman"/>
              </a:rPr>
              <a:t>word </a:t>
            </a:r>
            <a:r>
              <a:rPr sz="1200" dirty="0">
                <a:latin typeface="Times New Roman"/>
                <a:cs typeface="Times New Roman"/>
              </a:rPr>
              <a:t>filtering,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handling.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309995" cy="44038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PROJECT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OBJECTIVES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22860" algn="ctr">
              <a:lnSpc>
                <a:spcPct val="100000"/>
              </a:lnSpc>
              <a:spcBef>
                <a:spcPts val="10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24892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develop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reliable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automated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22860" indent="154940">
              <a:lnSpc>
                <a:spcPct val="101699"/>
              </a:lnSpc>
              <a:spcBef>
                <a:spcPts val="5"/>
              </a:spcBef>
              <a:buAutoNum type="arabicPeriod"/>
              <a:tabLst>
                <a:tab pos="167640" algn="l"/>
              </a:tabLst>
            </a:pP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Cleaning: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unnecessary punctuation.</a:t>
            </a: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167640" algn="l"/>
              </a:tabLst>
            </a:pPr>
            <a:r>
              <a:rPr sz="1200" spc="-10" dirty="0">
                <a:latin typeface="Times New Roman"/>
                <a:cs typeface="Times New Roman"/>
              </a:rPr>
              <a:t>Tokenization: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individual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67640" algn="l"/>
              </a:tabLst>
            </a:pPr>
            <a:r>
              <a:rPr sz="1200" dirty="0">
                <a:latin typeface="Times New Roman"/>
                <a:cs typeface="Times New Roman"/>
              </a:rPr>
              <a:t>Token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Validation: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alphabetic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appropriate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operations.</a:t>
            </a: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67640" algn="l"/>
              </a:tabLst>
            </a:pPr>
            <a:r>
              <a:rPr sz="1200" spc="-10" dirty="0">
                <a:latin typeface="Times New Roman"/>
                <a:cs typeface="Times New Roman"/>
              </a:rPr>
              <a:t>Stop-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Filtering: </a:t>
            </a: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uninformative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supplied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 configuration.</a:t>
            </a: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167640" algn="l"/>
              </a:tabLst>
            </a:pP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occurrences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word.</a:t>
            </a: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67640" algn="l"/>
              </a:tabLst>
            </a:pP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safely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file-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techniques.</a:t>
            </a:r>
            <a:endParaRPr sz="1200" dirty="0">
              <a:latin typeface="Times New Roman"/>
              <a:cs typeface="Times New Roman"/>
            </a:endParaRPr>
          </a:p>
          <a:p>
            <a:pPr marL="12700" marR="254635" indent="15494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67640" algn="l"/>
              </a:tabLst>
            </a:pPr>
            <a:r>
              <a:rPr sz="1200" spc="-10" dirty="0">
                <a:latin typeface="Times New Roman"/>
                <a:cs typeface="Times New Roman"/>
              </a:rPr>
              <a:t>Exception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decoding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permission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without </a:t>
            </a:r>
            <a:r>
              <a:rPr sz="1200" dirty="0">
                <a:latin typeface="Times New Roman"/>
                <a:cs typeface="Times New Roman"/>
              </a:rPr>
              <a:t>uncontrolled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failure.</a:t>
            </a:r>
            <a:endParaRPr sz="1200" dirty="0">
              <a:latin typeface="Times New Roman"/>
              <a:cs typeface="Times New Roman"/>
            </a:endParaRPr>
          </a:p>
          <a:p>
            <a:pPr marL="12700" marR="399415" indent="154940">
              <a:lnSpc>
                <a:spcPct val="101699"/>
              </a:lnSpc>
              <a:spcBef>
                <a:spcPts val="385"/>
              </a:spcBef>
              <a:buAutoNum type="arabicPeriod"/>
              <a:tabLst>
                <a:tab pos="167640" algn="l"/>
              </a:tabLst>
            </a:pPr>
            <a:r>
              <a:rPr sz="1200" dirty="0">
                <a:latin typeface="Times New Roman"/>
                <a:cs typeface="Times New Roman"/>
              </a:rPr>
              <a:t>Modular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file-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responsibilities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0" dirty="0">
                <a:latin typeface="Times New Roman"/>
                <a:cs typeface="Times New Roman"/>
              </a:rPr>
              <a:t> individual modules.</a:t>
            </a:r>
            <a:endParaRPr sz="1200" dirty="0">
              <a:latin typeface="Times New Roman"/>
              <a:cs typeface="Times New Roman"/>
            </a:endParaRPr>
          </a:p>
          <a:p>
            <a:pPr marL="12700" marR="278765" indent="15494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67640" algn="l"/>
              </a:tabLst>
            </a:pPr>
            <a:r>
              <a:rPr sz="1200" dirty="0">
                <a:latin typeface="Times New Roman"/>
                <a:cs typeface="Times New Roman"/>
              </a:rPr>
              <a:t>CLI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Provide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10" dirty="0">
                <a:latin typeface="Times New Roman"/>
                <a:cs typeface="Times New Roman"/>
              </a:rPr>
              <a:t> path.</a:t>
            </a:r>
            <a:endParaRPr sz="1200" dirty="0">
              <a:latin typeface="Times New Roman"/>
              <a:cs typeface="Times New Roman"/>
            </a:endParaRPr>
          </a:p>
          <a:p>
            <a:pPr marL="243840" indent="-23114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243840" algn="l"/>
              </a:tabLst>
            </a:pPr>
            <a:r>
              <a:rPr sz="1200" spc="-10" dirty="0">
                <a:latin typeface="Times New Roman"/>
                <a:cs typeface="Times New Roman"/>
              </a:rPr>
              <a:t>Reporting: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summary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72530" cy="76617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278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SYSTEM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ARCHITECTURE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FLOW</a:t>
            </a:r>
            <a:endParaRPr lang="en-IN" sz="1600" b="1" spc="-20" dirty="0">
              <a:latin typeface="Times New Roman"/>
              <a:cs typeface="Times New Roman"/>
            </a:endParaRPr>
          </a:p>
          <a:p>
            <a:pPr marL="652780" algn="ctr">
              <a:lnSpc>
                <a:spcPct val="100000"/>
              </a:lnSpc>
              <a:spcBef>
                <a:spcPts val="10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8636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meaningful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frequency results.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Input: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command-line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options.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Handling: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10" dirty="0">
                <a:latin typeface="Times New Roman"/>
                <a:cs typeface="Times New Roman"/>
              </a:rPr>
              <a:t> Cleaning:</a:t>
            </a:r>
            <a:endParaRPr sz="1200" dirty="0">
              <a:latin typeface="Times New Roman"/>
              <a:cs typeface="Times New Roman"/>
            </a:endParaRPr>
          </a:p>
          <a:p>
            <a:pPr marL="12700" marR="327025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normalizes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lowercase, </a:t>
            </a:r>
            <a:r>
              <a:rPr sz="1200" dirty="0">
                <a:latin typeface="Times New Roman"/>
                <a:cs typeface="Times New Roman"/>
              </a:rPr>
              <a:t>removes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prepares</a:t>
            </a:r>
            <a:r>
              <a:rPr sz="1200" spc="-10" dirty="0">
                <a:latin typeface="Times New Roman"/>
                <a:cs typeface="Times New Roman"/>
              </a:rPr>
              <a:t> valid tokens.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Tokenization: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individual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 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whitespace-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-10" dirty="0">
                <a:latin typeface="Times New Roman"/>
                <a:cs typeface="Times New Roman"/>
              </a:rPr>
              <a:t> processing.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Stop-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spc="-10" dirty="0">
                <a:latin typeface="Times New Roman"/>
                <a:cs typeface="Times New Roman"/>
              </a:rPr>
              <a:t>Uninformative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supplied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stop-word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configuration.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Counting: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occurrence 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remaining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terms.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Reporting: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console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Overall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Flow: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INPUT →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61404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six-</a:t>
            </a:r>
            <a:r>
              <a:rPr sz="1200" dirty="0">
                <a:latin typeface="Times New Roman"/>
                <a:cs typeface="Times New Roman"/>
              </a:rPr>
              <a:t>stage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reporting.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042660" cy="59207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6545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MODULE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STRINGS</a:t>
            </a:r>
            <a:endParaRPr lang="en-IN" sz="1600" b="1" spc="-10">
              <a:latin typeface="Times New Roman"/>
              <a:cs typeface="Times New Roman"/>
            </a:endParaRPr>
          </a:p>
          <a:p>
            <a:pPr marL="296545" algn="ctr">
              <a:lnSpc>
                <a:spcPct val="100000"/>
              </a:lnSpc>
              <a:spcBef>
                <a:spcPts val="10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25400">
              <a:lnSpc>
                <a:spcPct val="100800"/>
              </a:lnSpc>
              <a:spcBef>
                <a:spcPts val="118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 preprocessing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normalization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treated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 appears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 cases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with </a:t>
            </a:r>
            <a:r>
              <a:rPr sz="1200" dirty="0">
                <a:latin typeface="Times New Roman"/>
                <a:cs typeface="Times New Roman"/>
              </a:rPr>
              <a:t>surrounding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punctuation.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lower():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Converts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lowercase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“Data”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“data”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10" dirty="0">
                <a:latin typeface="Times New Roman"/>
                <a:cs typeface="Times New Roman"/>
              </a:rPr>
              <a:t> uniformly.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str.maketrans()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translate():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arbitrary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input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text.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split():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Performs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whitespace-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tokenization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0" dirty="0">
                <a:latin typeface="Times New Roman"/>
                <a:cs typeface="Times New Roman"/>
              </a:rPr>
              <a:t> individual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tokens.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strip():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Removes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unwanted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characters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around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isalpha():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Checks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alphabetic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characters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retain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strictly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Importance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Module:</a:t>
            </a:r>
            <a:endParaRPr sz="1200" dirty="0">
              <a:latin typeface="Times New Roman"/>
              <a:cs typeface="Times New Roman"/>
            </a:endParaRPr>
          </a:p>
          <a:p>
            <a:pPr marL="12700" marR="7620">
              <a:lnSpc>
                <a:spcPct val="100899"/>
              </a:lnSpc>
              <a:spcBef>
                <a:spcPts val="3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combination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clean, </a:t>
            </a:r>
            <a:r>
              <a:rPr sz="1200" spc="-10" dirty="0">
                <a:latin typeface="Times New Roman"/>
                <a:cs typeface="Times New Roman"/>
              </a:rPr>
              <a:t>normalized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0" dirty="0">
                <a:latin typeface="Times New Roman"/>
                <a:cs typeface="Times New Roman"/>
              </a:rPr>
              <a:t> list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spc="-10" dirty="0">
                <a:latin typeface="Times New Roman"/>
                <a:cs typeface="Times New Roman"/>
              </a:rPr>
              <a:t>frequency-</a:t>
            </a:r>
            <a:r>
              <a:rPr sz="1200" dirty="0">
                <a:latin typeface="Times New Roman"/>
                <a:cs typeface="Times New Roman"/>
              </a:rPr>
              <a:t>counting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manipulation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foundation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 pipeline.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99200" cy="58607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MODULE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2: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FILES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EXCEPTIONS</a:t>
            </a:r>
            <a:endParaRPr sz="1600" dirty="0">
              <a:latin typeface="Times New Roman"/>
              <a:cs typeface="Times New Roman"/>
            </a:endParaRPr>
          </a:p>
          <a:p>
            <a:pPr marL="12700" marR="140335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10" dirty="0">
                <a:latin typeface="Times New Roman"/>
                <a:cs typeface="Times New Roman"/>
              </a:rPr>
              <a:t> manages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input/output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protects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from </a:t>
            </a:r>
            <a:r>
              <a:rPr sz="1200" dirty="0">
                <a:latin typeface="Times New Roman"/>
                <a:cs typeface="Times New Roman"/>
              </a:rPr>
              <a:t>common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runtime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Safe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Operations:</a:t>
            </a:r>
            <a:endParaRPr sz="1200" dirty="0">
              <a:latin typeface="Times New Roman"/>
              <a:cs typeface="Times New Roman"/>
            </a:endParaRPr>
          </a:p>
          <a:p>
            <a:pPr marL="12700" marR="179705">
              <a:lnSpc>
                <a:spcPct val="101699"/>
              </a:lnSpc>
              <a:spcBef>
                <a:spcPts val="38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 uses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context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open(...).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controlled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automatically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Reports: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10" dirty="0">
                <a:latin typeface="Times New Roman"/>
                <a:cs typeface="Times New Roman"/>
              </a:rPr>
              <a:t> summary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10" dirty="0">
                <a:latin typeface="Times New Roman"/>
                <a:cs typeface="Times New Roman"/>
              </a:rPr>
              <a:t> argument.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FileNotFoundError:</a:t>
            </a:r>
            <a:endParaRPr sz="1200" dirty="0">
              <a:latin typeface="Times New Roman"/>
              <a:cs typeface="Times New Roman"/>
            </a:endParaRPr>
          </a:p>
          <a:p>
            <a:pPr marL="12700" marR="461645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0" dirty="0">
                <a:latin typeface="Times New Roman"/>
                <a:cs typeface="Times New Roman"/>
              </a:rPr>
              <a:t>identify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paths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command-line </a:t>
            </a:r>
            <a:r>
              <a:rPr sz="1200" spc="-10" dirty="0">
                <a:latin typeface="Times New Roman"/>
                <a:cs typeface="Times New Roman"/>
              </a:rPr>
              <a:t>interface</a:t>
            </a:r>
            <a:r>
              <a:rPr sz="1200" spc="-25" dirty="0">
                <a:latin typeface="Times New Roman"/>
                <a:cs typeface="Times New Roman"/>
              </a:rPr>
              <a:t> to </a:t>
            </a:r>
            <a:r>
              <a:rPr sz="1200" dirty="0">
                <a:latin typeface="Times New Roman"/>
                <a:cs typeface="Times New Roman"/>
              </a:rPr>
              <a:t>respond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gracefully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unexpectedly.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UnicodeDecodeError:</a:t>
            </a: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1699"/>
              </a:lnSpc>
              <a:spcBef>
                <a:spcPts val="385"/>
              </a:spcBef>
            </a:pP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therefore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fallback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UTF-</a:t>
            </a:r>
            <a:r>
              <a:rPr sz="1200" spc="-25" dirty="0">
                <a:latin typeface="Times New Roman"/>
                <a:cs typeface="Times New Roman"/>
              </a:rPr>
              <a:t>8, </a:t>
            </a:r>
            <a:r>
              <a:rPr sz="1200" spc="-10" dirty="0">
                <a:latin typeface="Times New Roman"/>
                <a:cs typeface="Times New Roman"/>
              </a:rPr>
              <a:t>Latin-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CP1252.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PermissionError:</a:t>
            </a:r>
            <a:endParaRPr sz="1200" dirty="0">
              <a:latin typeface="Times New Roman"/>
              <a:cs typeface="Times New Roman"/>
            </a:endParaRPr>
          </a:p>
          <a:p>
            <a:pPr marL="12700" marR="57785">
              <a:lnSpc>
                <a:spcPct val="100000"/>
              </a:lnSpc>
              <a:spcBef>
                <a:spcPts val="409"/>
              </a:spcBef>
            </a:pPr>
            <a:r>
              <a:rPr sz="1200" spc="-10" dirty="0">
                <a:latin typeface="Times New Roman"/>
                <a:cs typeface="Times New Roman"/>
              </a:rPr>
              <a:t>Operating-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10" dirty="0">
                <a:latin typeface="Times New Roman"/>
                <a:cs typeface="Times New Roman"/>
              </a:rPr>
              <a:t> restrictions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caught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 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problem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rather </a:t>
            </a:r>
            <a:r>
              <a:rPr sz="1200" spc="-20" dirty="0">
                <a:latin typeface="Times New Roman"/>
                <a:cs typeface="Times New Roman"/>
              </a:rPr>
              <a:t>than </a:t>
            </a:r>
            <a:r>
              <a:rPr sz="1200" spc="-10" dirty="0">
                <a:latin typeface="Times New Roman"/>
                <a:cs typeface="Times New Roman"/>
              </a:rPr>
              <a:t>terminating</a:t>
            </a:r>
            <a:r>
              <a:rPr sz="1200" dirty="0">
                <a:latin typeface="Times New Roman"/>
                <a:cs typeface="Times New Roman"/>
              </a:rPr>
              <a:t> without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explanation.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Result: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exception-</a:t>
            </a:r>
            <a:r>
              <a:rPr sz="1200" dirty="0">
                <a:latin typeface="Times New Roman"/>
                <a:cs typeface="Times New Roman"/>
              </a:rPr>
              <a:t>handling strategy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improves </a:t>
            </a:r>
            <a:r>
              <a:rPr sz="1200" dirty="0">
                <a:latin typeface="Times New Roman"/>
                <a:cs typeface="Times New Roman"/>
              </a:rPr>
              <a:t>runtime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stability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supports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reliable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text-file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5838190" cy="79110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78205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MODULE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3: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MODULES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PACKAGES</a:t>
            </a:r>
            <a:endParaRPr sz="1600" dirty="0">
              <a:latin typeface="Times New Roman"/>
              <a:cs typeface="Times New Roman"/>
            </a:endParaRPr>
          </a:p>
          <a:p>
            <a:pPr marL="12700" marR="13335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establishes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separation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concerns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argument </a:t>
            </a:r>
            <a:r>
              <a:rPr sz="1200" spc="-10" dirty="0">
                <a:latin typeface="Times New Roman"/>
                <a:cs typeface="Times New Roman"/>
              </a:rPr>
              <a:t>parsing.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Package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Structure: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spc="-10" dirty="0">
                <a:latin typeface="Times New Roman"/>
                <a:cs typeface="Times New Roman"/>
              </a:rPr>
              <a:t>text_analyzer/</a:t>
            </a:r>
            <a:endParaRPr sz="1200" dirty="0">
              <a:latin typeface="Times New Roman"/>
              <a:cs typeface="Times New Roman"/>
            </a:endParaRPr>
          </a:p>
          <a:p>
            <a:pPr marL="167640" marR="4736465">
              <a:lnSpc>
                <a:spcPct val="128400"/>
              </a:lnSpc>
            </a:pPr>
            <a:r>
              <a:rPr sz="1200" u="sng" spc="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init</a:t>
            </a:r>
            <a:r>
              <a:rPr sz="1200" u="sng" spc="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.py </a:t>
            </a:r>
            <a:r>
              <a:rPr sz="1200" spc="-10" dirty="0">
                <a:latin typeface="Times New Roman"/>
                <a:cs typeface="Times New Roman"/>
              </a:rPr>
              <a:t>cleaner.py counter.py file_handler.py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cleaner.py: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preprocessing</a:t>
            </a:r>
            <a:r>
              <a:rPr sz="1200" dirty="0">
                <a:latin typeface="Times New Roman"/>
                <a:cs typeface="Times New Roman"/>
              </a:rPr>
              <a:t> 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responsibilities.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counter.py: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Handles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 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filtered.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file_handler.py: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Manages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input/output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handling.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u="sng" spc="2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init</a:t>
            </a:r>
            <a:r>
              <a:rPr sz="1200" u="sng" spc="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.py: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namespace</a:t>
            </a:r>
            <a:r>
              <a:rPr sz="1200" spc="-10" dirty="0">
                <a:latin typeface="Times New Roman"/>
                <a:cs typeface="Times New Roman"/>
              </a:rPr>
              <a:t> management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structure.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Interface: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Python's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argparse </a:t>
            </a:r>
            <a:r>
              <a:rPr sz="1200" spc="-10" dirty="0">
                <a:latin typeface="Times New Roman"/>
                <a:cs typeface="Times New Roman"/>
              </a:rPr>
              <a:t>module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10" dirty="0">
                <a:latin typeface="Times New Roman"/>
                <a:cs typeface="Times New Roman"/>
              </a:rPr>
              <a:t> contracts.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-i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-s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Stop-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configuration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-n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words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-o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path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makes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specific </a:t>
            </a:r>
            <a:r>
              <a:rPr sz="1200" dirty="0">
                <a:latin typeface="Times New Roman"/>
                <a:cs typeface="Times New Roman"/>
              </a:rPr>
              <a:t>function,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improving </a:t>
            </a:r>
            <a:r>
              <a:rPr sz="1200" dirty="0">
                <a:latin typeface="Times New Roman"/>
                <a:cs typeface="Times New Roman"/>
              </a:rPr>
              <a:t>organization,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maintainability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integration.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5936615" cy="78053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259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SYSTEM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WORKING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/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METHODOLOGY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application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well-</a:t>
            </a:r>
            <a:r>
              <a:rPr sz="1200" dirty="0">
                <a:latin typeface="Times New Roman"/>
                <a:cs typeface="Times New Roman"/>
              </a:rPr>
              <a:t>defined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0" dirty="0">
                <a:latin typeface="Times New Roman"/>
                <a:cs typeface="Times New Roman"/>
              </a:rPr>
              <a:t> Input: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input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 </a:t>
            </a:r>
            <a:r>
              <a:rPr sz="1200" spc="-10" dirty="0">
                <a:latin typeface="Times New Roman"/>
                <a:cs typeface="Times New Roman"/>
              </a:rPr>
              <a:t>interface.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 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appropriate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strategy.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0" dirty="0">
                <a:latin typeface="Times New Roman"/>
                <a:cs typeface="Times New Roman"/>
              </a:rPr>
              <a:t> Normalize: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lowercase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capitalization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categories.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-10" dirty="0">
                <a:latin typeface="Times New Roman"/>
                <a:cs typeface="Times New Roman"/>
              </a:rPr>
              <a:t> Punctuation: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Punctuation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translation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0" dirty="0">
                <a:latin typeface="Times New Roman"/>
                <a:cs typeface="Times New Roman"/>
              </a:rPr>
              <a:t> Tokenize: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individual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split().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0" dirty="0">
                <a:latin typeface="Times New Roman"/>
                <a:cs typeface="Times New Roman"/>
              </a:rPr>
              <a:t> Validate: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strip()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isalpha()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retain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alphabetic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tokens.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0" dirty="0">
                <a:latin typeface="Times New Roman"/>
                <a:cs typeface="Times New Roman"/>
              </a:rPr>
              <a:t> Filter: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Stop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supplied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configuration.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0" dirty="0">
                <a:latin typeface="Times New Roman"/>
                <a:cs typeface="Times New Roman"/>
              </a:rPr>
              <a:t> Count: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remaining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frequencies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determined.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0" dirty="0">
                <a:latin typeface="Times New Roman"/>
                <a:cs typeface="Times New Roman"/>
              </a:rPr>
              <a:t> Report: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console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exported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Flow: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0" dirty="0">
                <a:latin typeface="Times New Roman"/>
                <a:cs typeface="Times New Roman"/>
              </a:rPr>
              <a:t> Normalize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Tokenize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54750" cy="672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COMMAND-</a:t>
            </a:r>
            <a:r>
              <a:rPr sz="1600" b="1" dirty="0">
                <a:latin typeface="Times New Roman"/>
                <a:cs typeface="Times New Roman"/>
              </a:rPr>
              <a:t>LINE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INTERFACE</a:t>
            </a:r>
            <a:endParaRPr sz="1600" dirty="0">
              <a:latin typeface="Times New Roman"/>
              <a:cs typeface="Times New Roman"/>
            </a:endParaRPr>
          </a:p>
          <a:p>
            <a:pPr marL="12700" marR="2286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changing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Python's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argparse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CLI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Parameters: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-i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Input: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spc="-10" dirty="0">
                <a:latin typeface="Times New Roman"/>
                <a:cs typeface="Times New Roman"/>
              </a:rPr>
              <a:t>Specifies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processed.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-s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Words: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spc="-10" dirty="0">
                <a:latin typeface="Times New Roman"/>
                <a:cs typeface="Times New Roman"/>
              </a:rPr>
              <a:t>Specifies </a:t>
            </a:r>
            <a:r>
              <a:rPr sz="1200" dirty="0">
                <a:latin typeface="Times New Roman"/>
                <a:cs typeface="Times New Roman"/>
              </a:rPr>
              <a:t>the stop-word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configuration.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-n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Words: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Controls 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high-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final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-o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Output: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spc="-10" dirty="0">
                <a:latin typeface="Times New Roman"/>
                <a:cs typeface="Times New Roman"/>
              </a:rPr>
              <a:t>Specifies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summary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written.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Benefits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</a:t>
            </a:r>
            <a:r>
              <a:rPr sz="1200" spc="-10" dirty="0">
                <a:latin typeface="Times New Roman"/>
                <a:cs typeface="Times New Roman"/>
              </a:rPr>
              <a:t> Design: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customized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5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flexible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options.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Enables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stop-word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control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 </a:t>
            </a:r>
            <a:r>
              <a:rPr sz="1200" spc="-10" dirty="0">
                <a:latin typeface="Times New Roman"/>
                <a:cs typeface="Times New Roman"/>
              </a:rPr>
              <a:t>results.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generation.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5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Keeps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10" dirty="0">
                <a:latin typeface="Times New Roman"/>
                <a:cs typeface="Times New Roman"/>
              </a:rPr>
              <a:t> lightweight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explicit parameter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contracts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internal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modular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90310" cy="54326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TESTING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ANALYSIS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verify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correctness, </a:t>
            </a:r>
            <a:r>
              <a:rPr sz="1200" spc="-10" dirty="0">
                <a:latin typeface="Times New Roman"/>
                <a:cs typeface="Times New Roman"/>
              </a:rPr>
              <a:t>reliability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fault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tolerance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prototype.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Sample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Testing:</a:t>
            </a:r>
            <a:endParaRPr sz="1200" dirty="0">
              <a:latin typeface="Times New Roman"/>
              <a:cs typeface="Times New Roman"/>
            </a:endParaRPr>
          </a:p>
          <a:p>
            <a:pPr marL="12700" marR="401955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tested using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109-word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sample </a:t>
            </a:r>
            <a:r>
              <a:rPr sz="1200" dirty="0">
                <a:latin typeface="Times New Roman"/>
                <a:cs typeface="Times New Roman"/>
              </a:rPr>
              <a:t>text. 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 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verify tokenization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calculations.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Functional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Testing:</a:t>
            </a: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1699"/>
              </a:lnSpc>
              <a:spcBef>
                <a:spcPts val="38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normalization,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removal,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tokenization,</a:t>
            </a:r>
            <a:r>
              <a:rPr sz="1200" dirty="0">
                <a:latin typeface="Times New Roman"/>
                <a:cs typeface="Times New Roman"/>
              </a:rPr>
              <a:t> stop-word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 counting.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Testing:</a:t>
            </a:r>
            <a:endParaRPr sz="1200" dirty="0">
              <a:latin typeface="Times New Roman"/>
              <a:cs typeface="Times New Roman"/>
            </a:endParaRPr>
          </a:p>
          <a:p>
            <a:pPr marL="12700" marR="34925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reliability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checks. 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was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paths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file-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restrictions.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Testing: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file-</a:t>
            </a:r>
            <a:r>
              <a:rPr sz="1200" dirty="0">
                <a:latin typeface="Times New Roman"/>
                <a:cs typeface="Times New Roman"/>
              </a:rPr>
              <a:t>handling strategy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fallback</a:t>
            </a:r>
            <a:r>
              <a:rPr sz="1200" dirty="0">
                <a:latin typeface="Times New Roman"/>
                <a:cs typeface="Times New Roman"/>
              </a:rPr>
              <a:t> processing across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UTF-8,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Latin-</a:t>
            </a:r>
            <a:r>
              <a:rPr sz="1200" dirty="0">
                <a:latin typeface="Times New Roman"/>
                <a:cs typeface="Times New Roman"/>
              </a:rPr>
              <a:t>1 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CP1252.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Testing: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includes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FileNotFoundError,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UnicodeDecodeError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PermissionError.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21971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intended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uncontrolled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crashes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reliability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text-</a:t>
            </a:r>
            <a:r>
              <a:rPr sz="1200" spc="-10" dirty="0">
                <a:latin typeface="Times New Roman"/>
                <a:cs typeface="Times New Roman"/>
              </a:rPr>
              <a:t>processing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67450" cy="65190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025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RESULTS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intended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initial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 </a:t>
            </a:r>
            <a:r>
              <a:rPr sz="1200" spc="-10" dirty="0">
                <a:latin typeface="Times New Roman"/>
                <a:cs typeface="Times New Roman"/>
              </a:rPr>
              <a:t>design.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Tokenization: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109-word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sample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Counts:</a:t>
            </a:r>
            <a:endParaRPr sz="1200" dirty="0">
              <a:latin typeface="Times New Roman"/>
              <a:cs typeface="Times New Roman"/>
            </a:endParaRPr>
          </a:p>
          <a:p>
            <a:pPr marL="12700" marR="28702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expected 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 from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processed sample.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Functional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Six-Stage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Pipeline:</a:t>
            </a:r>
            <a:endParaRPr sz="1200" dirty="0">
              <a:latin typeface="Times New Roman"/>
              <a:cs typeface="Times New Roman"/>
            </a:endParaRPr>
          </a:p>
          <a:p>
            <a:pPr marL="12700" marR="139065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pipeline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covering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Architecture:</a:t>
            </a:r>
            <a:endParaRPr sz="1200" dirty="0">
              <a:latin typeface="Times New Roman"/>
              <a:cs typeface="Times New Roman"/>
            </a:endParaRPr>
          </a:p>
          <a:p>
            <a:pPr marL="12700" marR="49022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separated 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cleaner.py, </a:t>
            </a:r>
            <a:r>
              <a:rPr sz="1200" dirty="0">
                <a:latin typeface="Times New Roman"/>
                <a:cs typeface="Times New Roman"/>
              </a:rPr>
              <a:t>counter.py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file_handler.py,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 responsibilities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remain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decoupled.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Fault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Tolerance:</a:t>
            </a:r>
            <a:endParaRPr sz="1200" dirty="0">
              <a:latin typeface="Times New Roman"/>
              <a:cs typeface="Times New Roman"/>
            </a:endParaRPr>
          </a:p>
          <a:p>
            <a:pPr marL="12700" marR="83820">
              <a:lnSpc>
                <a:spcPct val="101699"/>
              </a:lnSpc>
              <a:spcBef>
                <a:spcPts val="38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invalid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without </a:t>
            </a:r>
            <a:r>
              <a:rPr sz="1200" dirty="0">
                <a:latin typeface="Times New Roman"/>
                <a:cs typeface="Times New Roman"/>
              </a:rPr>
              <a:t>uncontrolled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termination.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Compatibility:</a:t>
            </a:r>
            <a:endParaRPr sz="1200" dirty="0">
              <a:latin typeface="Times New Roman"/>
              <a:cs typeface="Times New Roman"/>
            </a:endParaRPr>
          </a:p>
          <a:p>
            <a:pPr marL="12700" marR="212725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Fallback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UTF-</a:t>
            </a:r>
            <a:r>
              <a:rPr sz="1200" dirty="0">
                <a:latin typeface="Times New Roman"/>
                <a:cs typeface="Times New Roman"/>
              </a:rPr>
              <a:t>8,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Latin-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CP1252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ability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10" dirty="0">
                <a:latin typeface="Times New Roman"/>
                <a:cs typeface="Times New Roman"/>
              </a:rPr>
              <a:t> common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encodings.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43815">
              <a:lnSpc>
                <a:spcPct val="101899"/>
              </a:lnSpc>
            </a:pPr>
            <a:r>
              <a:rPr sz="1200" dirty="0">
                <a:latin typeface="Times New Roman"/>
                <a:cs typeface="Times New Roman"/>
              </a:rPr>
              <a:t>Overall,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reported</a:t>
            </a:r>
            <a:r>
              <a:rPr sz="1200" spc="-10" dirty="0">
                <a:latin typeface="Times New Roman"/>
                <a:cs typeface="Times New Roman"/>
              </a:rPr>
              <a:t> prototype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unstructured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produce</a:t>
            </a:r>
            <a:r>
              <a:rPr sz="1200" spc="-10" dirty="0">
                <a:latin typeface="Times New Roman"/>
                <a:cs typeface="Times New Roman"/>
              </a:rPr>
              <a:t> useful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word-frequency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31890" cy="56173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68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PERFORMANCE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DESIGN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ANALYSIS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 </a:t>
            </a:r>
            <a:r>
              <a:rPr sz="1200" spc="-10" dirty="0">
                <a:latin typeface="Times New Roman"/>
                <a:cs typeface="Times New Roman"/>
              </a:rPr>
              <a:t>emphasizes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 </a:t>
            </a:r>
            <a:r>
              <a:rPr sz="1200" spc="-10" dirty="0">
                <a:latin typeface="Times New Roman"/>
                <a:cs typeface="Times New Roman"/>
              </a:rPr>
              <a:t>processing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together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Processing:</a:t>
            </a:r>
            <a:endParaRPr sz="1200" dirty="0">
              <a:latin typeface="Times New Roman"/>
              <a:cs typeface="Times New Roman"/>
            </a:endParaRPr>
          </a:p>
          <a:p>
            <a:pPr marL="12700" marR="305435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str.maketrans()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translate()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punctuation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removal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preprocessing.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Counting: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spc="-10" dirty="0">
                <a:latin typeface="Times New Roman"/>
                <a:cs typeface="Times New Roman"/>
              </a:rPr>
              <a:t>Dictionary-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dict.get()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maintain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occurrence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totals.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Modular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Processing:</a:t>
            </a:r>
            <a:endParaRPr sz="1200" dirty="0">
              <a:latin typeface="Times New Roman"/>
              <a:cs typeface="Times New Roman"/>
            </a:endParaRPr>
          </a:p>
          <a:p>
            <a:pPr marL="12700" marR="269875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six-</a:t>
            </a:r>
            <a:r>
              <a:rPr sz="1200" dirty="0">
                <a:latin typeface="Times New Roman"/>
                <a:cs typeface="Times New Roman"/>
              </a:rPr>
              <a:t>stage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decoupled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cleaner.py,</a:t>
            </a:r>
            <a:r>
              <a:rPr sz="1200" dirty="0">
                <a:latin typeface="Times New Roman"/>
                <a:cs typeface="Times New Roman"/>
              </a:rPr>
              <a:t> counter.py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file_handler.py.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prevents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responsibilities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concentrated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 large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Fault-</a:t>
            </a:r>
            <a:r>
              <a:rPr sz="1200" dirty="0">
                <a:latin typeface="Times New Roman"/>
                <a:cs typeface="Times New Roman"/>
              </a:rPr>
              <a:t>Tolerant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Design:</a:t>
            </a:r>
            <a:endParaRPr sz="1200" dirty="0">
              <a:latin typeface="Times New Roman"/>
              <a:cs typeface="Times New Roman"/>
            </a:endParaRPr>
          </a:p>
          <a:p>
            <a:pPr marL="12700" marR="5969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file-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paths,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permission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restrictions.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improves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reliability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CLI-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Operation:</a:t>
            </a: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1699"/>
              </a:lnSpc>
              <a:spcBef>
                <a:spcPts val="38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argparse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interface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top-word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location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23558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identifying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larger </a:t>
            </a:r>
            <a:r>
              <a:rPr sz="1200" dirty="0">
                <a:latin typeface="Times New Roman"/>
                <a:cs typeface="Times New Roman"/>
              </a:rPr>
              <a:t>datasets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benchmarks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323330" cy="5805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615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RECOMMENDATIONS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FUTURE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ENHANCEMENTS</a:t>
            </a:r>
            <a:endParaRPr sz="1600" dirty="0">
              <a:latin typeface="Times New Roman"/>
              <a:cs typeface="Times New Roman"/>
            </a:endParaRPr>
          </a:p>
          <a:p>
            <a:pPr marL="12700" marR="442595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 </a:t>
            </a:r>
            <a:r>
              <a:rPr sz="1200" spc="-10" dirty="0">
                <a:latin typeface="Times New Roman"/>
                <a:cs typeface="Times New Roman"/>
              </a:rPr>
              <a:t>prototype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improvements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</a:t>
            </a:r>
            <a:r>
              <a:rPr sz="1200" spc="-10" dirty="0">
                <a:latin typeface="Times New Roman"/>
                <a:cs typeface="Times New Roman"/>
              </a:rPr>
              <a:t>recommended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functionality.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7640" algn="l"/>
              </a:tabLst>
            </a:pPr>
            <a:r>
              <a:rPr sz="1200" spc="-10" dirty="0">
                <a:latin typeface="Times New Roman"/>
                <a:cs typeface="Times New Roman"/>
              </a:rPr>
              <a:t>N-</a:t>
            </a:r>
            <a:r>
              <a:rPr sz="1200" dirty="0">
                <a:latin typeface="Times New Roman"/>
                <a:cs typeface="Times New Roman"/>
              </a:rPr>
              <a:t>Gram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Analysis:</a:t>
            </a:r>
            <a:endParaRPr sz="1200" dirty="0">
              <a:latin typeface="Times New Roman"/>
              <a:cs typeface="Times New Roman"/>
            </a:endParaRPr>
          </a:p>
          <a:p>
            <a:pPr marL="12700" marR="415925">
              <a:lnSpc>
                <a:spcPct val="101699"/>
              </a:lnSpc>
              <a:spcBef>
                <a:spcPts val="380"/>
              </a:spcBef>
            </a:pP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multi-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phrase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bigrams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trigrams.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occurring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combinations </a:t>
            </a:r>
            <a:r>
              <a:rPr sz="1200" dirty="0">
                <a:latin typeface="Times New Roman"/>
                <a:cs typeface="Times New Roman"/>
              </a:rPr>
              <a:t>rather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 </a:t>
            </a:r>
            <a:r>
              <a:rPr sz="1200" spc="-10" dirty="0">
                <a:latin typeface="Times New Roman"/>
                <a:cs typeface="Times New Roman"/>
              </a:rPr>
              <a:t>individual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words.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buAutoNum type="arabicPeriod" startAt="2"/>
              <a:tabLst>
                <a:tab pos="167640" algn="l"/>
              </a:tabLst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Visualization:</a:t>
            </a:r>
            <a:endParaRPr sz="1200" dirty="0">
              <a:latin typeface="Times New Roman"/>
              <a:cs typeface="Times New Roman"/>
            </a:endParaRPr>
          </a:p>
          <a:p>
            <a:pPr marL="12700" marR="41529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Generate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representations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clouds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charts. Matplotlib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 used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creating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outputs.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167640" algn="l"/>
              </a:tabLst>
            </a:pPr>
            <a:r>
              <a:rPr sz="1200" dirty="0">
                <a:latin typeface="Times New Roman"/>
                <a:cs typeface="Times New Roman"/>
              </a:rPr>
              <a:t>Automated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Testing:</a:t>
            </a: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1699"/>
              </a:lnSpc>
              <a:spcBef>
                <a:spcPts val="385"/>
              </a:spcBef>
            </a:pPr>
            <a:r>
              <a:rPr sz="1200" dirty="0">
                <a:latin typeface="Times New Roman"/>
                <a:cs typeface="Times New Roman"/>
              </a:rPr>
              <a:t>Build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pytest</a:t>
            </a:r>
            <a:r>
              <a:rPr sz="1200" spc="-10" dirty="0">
                <a:latin typeface="Times New Roman"/>
                <a:cs typeface="Times New Roman"/>
              </a:rPr>
              <a:t> unit-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</a:t>
            </a:r>
            <a:r>
              <a:rPr sz="1200" dirty="0">
                <a:latin typeface="Times New Roman"/>
                <a:cs typeface="Times New Roman"/>
              </a:rPr>
              <a:t>easier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verify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functionality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changes.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buAutoNum type="arabicPeriod" startAt="4"/>
              <a:tabLst>
                <a:tab pos="167640" algn="l"/>
              </a:tabLst>
            </a:pPr>
            <a:r>
              <a:rPr sz="1200" spc="-10" dirty="0">
                <a:latin typeface="Times New Roman"/>
                <a:cs typeface="Times New Roman"/>
              </a:rPr>
              <a:t>Large-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Benchmarking: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 </a:t>
            </a:r>
            <a:r>
              <a:rPr sz="1200" spc="-10" dirty="0">
                <a:latin typeface="Times New Roman"/>
                <a:cs typeface="Times New Roman"/>
              </a:rPr>
              <a:t>particularly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more.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67640" indent="-154940">
              <a:lnSpc>
                <a:spcPct val="100000"/>
              </a:lnSpc>
              <a:buAutoNum type="arabicPeriod" startAt="5"/>
              <a:tabLst>
                <a:tab pos="167640" algn="l"/>
              </a:tabLst>
            </a:pPr>
            <a:r>
              <a:rPr sz="1200" spc="-10" dirty="0">
                <a:latin typeface="Times New Roman"/>
                <a:cs typeface="Times New Roman"/>
              </a:rPr>
              <a:t>Extended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Analysis:</a:t>
            </a:r>
            <a:endParaRPr sz="1200" dirty="0">
              <a:latin typeface="Times New Roman"/>
              <a:cs typeface="Times New Roman"/>
            </a:endParaRPr>
          </a:p>
          <a:p>
            <a:pPr marL="12700" marR="2032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text-</a:t>
            </a:r>
            <a:r>
              <a:rPr sz="1200" spc="-10" dirty="0">
                <a:latin typeface="Times New Roman"/>
                <a:cs typeface="Times New Roman"/>
              </a:rPr>
              <a:t>analysis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without redesigning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210185">
              <a:lnSpc>
                <a:spcPct val="101699"/>
              </a:lnSpc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enhancements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 analytical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depth,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reliability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 evaluation.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69990" cy="72433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1484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ADVANTAGES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 </a:t>
            </a:r>
            <a:r>
              <a:rPr sz="1600" b="1" spc="-10" dirty="0">
                <a:latin typeface="Times New Roman"/>
                <a:cs typeface="Times New Roman"/>
              </a:rPr>
              <a:t>APPLICATION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POTENTIAL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Advantages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System: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Automation: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utility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manual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effort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0" dirty="0">
                <a:latin typeface="Times New Roman"/>
                <a:cs typeface="Times New Roman"/>
              </a:rPr>
              <a:t>identify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frequently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occurring words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Consistency: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Lowercase</a:t>
            </a:r>
            <a:r>
              <a:rPr sz="1200" spc="-10" dirty="0">
                <a:latin typeface="Times New Roman"/>
                <a:cs typeface="Times New Roman"/>
              </a:rPr>
              <a:t> normalization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 provide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uniform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representation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input.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Accuracy:</a:t>
            </a:r>
            <a:endParaRPr sz="1200" dirty="0">
              <a:latin typeface="Times New Roman"/>
              <a:cs typeface="Times New Roman"/>
            </a:endParaRPr>
          </a:p>
          <a:p>
            <a:pPr marL="12700" marR="113030">
              <a:lnSpc>
                <a:spcPct val="101699"/>
              </a:lnSpc>
              <a:spcBef>
                <a:spcPts val="380"/>
              </a:spcBef>
            </a:pPr>
            <a:r>
              <a:rPr sz="1200" dirty="0">
                <a:latin typeface="Times New Roman"/>
                <a:cs typeface="Times New Roman"/>
              </a:rPr>
              <a:t>Token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validation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stop-word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cleaner data.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Reliability:</a:t>
            </a:r>
            <a:endParaRPr sz="1200" dirty="0">
              <a:latin typeface="Times New Roman"/>
              <a:cs typeface="Times New Roman"/>
            </a:endParaRPr>
          </a:p>
          <a:p>
            <a:pPr marL="12700" marR="43815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controlled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decoding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permission restrictions.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Modularity:</a:t>
            </a:r>
            <a:endParaRPr sz="1200" dirty="0">
              <a:latin typeface="Times New Roman"/>
              <a:cs typeface="Times New Roman"/>
            </a:endParaRPr>
          </a:p>
          <a:p>
            <a:pPr marL="12700" marR="80645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file-</a:t>
            </a:r>
            <a:r>
              <a:rPr sz="1200" dirty="0">
                <a:latin typeface="Times New Roman"/>
                <a:cs typeface="Times New Roman"/>
              </a:rPr>
              <a:t>handler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maintain.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Flexibility:</a:t>
            </a:r>
            <a:endParaRPr sz="1200" dirty="0">
              <a:latin typeface="Times New Roman"/>
              <a:cs typeface="Times New Roman"/>
            </a:endParaRPr>
          </a:p>
          <a:p>
            <a:pPr marL="12700" marR="149860">
              <a:lnSpc>
                <a:spcPct val="100000"/>
              </a:lnSpc>
              <a:spcBef>
                <a:spcPts val="409"/>
              </a:spcBef>
            </a:pP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customize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words, number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10" dirty="0">
                <a:latin typeface="Times New Roman"/>
                <a:cs typeface="Times New Roman"/>
              </a:rPr>
              <a:t> location.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Application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Potential:</a:t>
            </a:r>
            <a:endParaRPr sz="1200" dirty="0">
              <a:latin typeface="Times New Roman"/>
              <a:cs typeface="Times New Roman"/>
            </a:endParaRPr>
          </a:p>
          <a:p>
            <a:pPr marL="12700" marR="12065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utility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foundation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analysis,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preprocessing, frequency-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 text-</a:t>
            </a:r>
            <a:r>
              <a:rPr sz="1200" spc="-10" dirty="0">
                <a:latin typeface="Times New Roman"/>
                <a:cs typeface="Times New Roman"/>
              </a:rPr>
              <a:t>processing</a:t>
            </a:r>
            <a:r>
              <a:rPr sz="1200" dirty="0">
                <a:latin typeface="Times New Roman"/>
                <a:cs typeface="Times New Roman"/>
              </a:rPr>
              <a:t> or </a:t>
            </a:r>
            <a:r>
              <a:rPr sz="1200" spc="-10" dirty="0">
                <a:latin typeface="Times New Roman"/>
                <a:cs typeface="Times New Roman"/>
              </a:rPr>
              <a:t>natural-language-</a:t>
            </a:r>
            <a:r>
              <a:rPr sz="1200" dirty="0">
                <a:latin typeface="Times New Roman"/>
                <a:cs typeface="Times New Roman"/>
              </a:rPr>
              <a:t>processing </a:t>
            </a:r>
            <a:r>
              <a:rPr sz="1200" spc="-10" dirty="0">
                <a:latin typeface="Times New Roman"/>
                <a:cs typeface="Times New Roman"/>
              </a:rPr>
              <a:t>extensions.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additional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incorporated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 </a:t>
            </a:r>
            <a:r>
              <a:rPr sz="1200" spc="-10" dirty="0">
                <a:latin typeface="Times New Roman"/>
                <a:cs typeface="Times New Roman"/>
              </a:rPr>
              <a:t>replacing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289040" cy="37367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69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CONCLUSION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600"/>
              </a:lnSpc>
              <a:spcBef>
                <a:spcPts val="118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 </a:t>
            </a:r>
            <a:r>
              <a:rPr sz="1200" dirty="0">
                <a:latin typeface="Times New Roman"/>
                <a:cs typeface="Times New Roman"/>
              </a:rPr>
              <a:t>&amp; Word 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concepts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practical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text-processing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 </a:t>
            </a:r>
            <a:r>
              <a:rPr sz="1200" dirty="0">
                <a:latin typeface="Times New Roman"/>
                <a:cs typeface="Times New Roman"/>
              </a:rPr>
              <a:t>automated method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processing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unstructured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normalization,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removal, tokenization,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stop-word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filtering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counting.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127635">
              <a:lnSpc>
                <a:spcPct val="1006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demonstrates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context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exception </a:t>
            </a:r>
            <a:r>
              <a:rPr sz="1200" dirty="0">
                <a:latin typeface="Times New Roman"/>
                <a:cs typeface="Times New Roman"/>
              </a:rPr>
              <a:t>strategy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 files,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 issues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permission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restrictions.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cleaner.py,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counter.py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file_handler.py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10" dirty="0">
                <a:latin typeface="Times New Roman"/>
                <a:cs typeface="Times New Roman"/>
              </a:rPr>
              <a:t> separation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concerns,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argparse-</a:t>
            </a:r>
            <a:r>
              <a:rPr sz="1200" spc="-10" dirty="0">
                <a:latin typeface="Times New Roman"/>
                <a:cs typeface="Times New Roman"/>
              </a:rPr>
              <a:t>based 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interface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flexible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10" dirty="0">
                <a:latin typeface="Times New Roman"/>
                <a:cs typeface="Times New Roman"/>
              </a:rPr>
              <a:t> parameters.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212090">
              <a:lnSpc>
                <a:spcPct val="101699"/>
              </a:lnSpc>
            </a:pPr>
            <a:r>
              <a:rPr sz="1200" dirty="0">
                <a:latin typeface="Times New Roman"/>
                <a:cs typeface="Times New Roman"/>
              </a:rPr>
              <a:t>Testing 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109-word </a:t>
            </a:r>
            <a:r>
              <a:rPr sz="1200" spc="-10" dirty="0">
                <a:latin typeface="Times New Roman"/>
                <a:cs typeface="Times New Roman"/>
              </a:rPr>
              <a:t>sample</a:t>
            </a:r>
            <a:r>
              <a:rPr sz="1200" dirty="0">
                <a:latin typeface="Times New Roman"/>
                <a:cs typeface="Times New Roman"/>
              </a:rPr>
              <a:t> text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demonstrated </a:t>
            </a:r>
            <a:r>
              <a:rPr sz="1200" spc="-10" dirty="0">
                <a:latin typeface="Times New Roman"/>
                <a:cs typeface="Times New Roman"/>
              </a:rPr>
              <a:t>accurate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tokenization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word-</a:t>
            </a:r>
            <a:r>
              <a:rPr sz="1200" spc="-10" dirty="0">
                <a:latin typeface="Times New Roman"/>
                <a:cs typeface="Times New Roman"/>
              </a:rPr>
              <a:t>frequency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fault-</a:t>
            </a:r>
            <a:r>
              <a:rPr sz="1200" dirty="0">
                <a:latin typeface="Times New Roman"/>
                <a:cs typeface="Times New Roman"/>
              </a:rPr>
              <a:t>tolerant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runtime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6985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improvements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N-gram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analysis, graphical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visualization,</a:t>
            </a:r>
            <a:r>
              <a:rPr sz="1200" dirty="0">
                <a:latin typeface="Times New Roman"/>
                <a:cs typeface="Times New Roman"/>
              </a:rPr>
              <a:t> automated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pytest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testing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benchmarking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establishes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maintainable </a:t>
            </a:r>
            <a:r>
              <a:rPr sz="1200" dirty="0">
                <a:latin typeface="Times New Roman"/>
                <a:cs typeface="Times New Roman"/>
              </a:rPr>
              <a:t>foundation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applications.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124" y="566674"/>
            <a:ext cx="6008370" cy="402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1470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REFERENCES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References: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5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text-</a:t>
            </a:r>
            <a:r>
              <a:rPr sz="1200" spc="-10" dirty="0">
                <a:latin typeface="Times New Roman"/>
                <a:cs typeface="Times New Roman"/>
              </a:rPr>
              <a:t>processing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5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managers.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mechanisms.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5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concepts.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argparse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command-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10" dirty="0">
                <a:latin typeface="Times New Roman"/>
                <a:cs typeface="Times New Roman"/>
              </a:rPr>
              <a:t> interfaces.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modules: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cleaner.py,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counter.py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file_handler.py.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Prototype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109-word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sample</a:t>
            </a:r>
            <a:r>
              <a:rPr sz="1200" spc="-20" dirty="0">
                <a:latin typeface="Times New Roman"/>
                <a:cs typeface="Times New Roman"/>
              </a:rPr>
              <a:t> text.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5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UTF-8,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Latin-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CP1252.</a:t>
            </a:r>
            <a:endParaRPr sz="1200" dirty="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409"/>
              </a:spcBef>
              <a:buChar char="•"/>
              <a:tabLst>
                <a:tab pos="103505" algn="l"/>
              </a:tabLst>
            </a:pPr>
            <a:r>
              <a:rPr sz="1200" dirty="0">
                <a:latin typeface="Times New Roman"/>
                <a:cs typeface="Times New Roman"/>
              </a:rPr>
              <a:t>Recommended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technologies: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matplotlib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Scope:</a:t>
            </a:r>
            <a:endParaRPr sz="1200" dirty="0">
              <a:latin typeface="Times New Roman"/>
              <a:cs typeface="Times New Roman"/>
            </a:endParaRPr>
          </a:p>
          <a:p>
            <a:pPr marL="12700" marR="59055">
              <a:lnSpc>
                <a:spcPct val="100800"/>
              </a:lnSpc>
              <a:spcBef>
                <a:spcPts val="3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team's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Capstone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“Text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Word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Counter”,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covering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definition,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implementation </a:t>
            </a:r>
            <a:r>
              <a:rPr sz="1200" dirty="0">
                <a:latin typeface="Times New Roman"/>
                <a:cs typeface="Times New Roman"/>
              </a:rPr>
              <a:t>concepts,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recommendations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conclusion.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3437</Words>
  <Application>Microsoft Office PowerPoint</Application>
  <PresentationFormat>Custom</PresentationFormat>
  <Paragraphs>469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python-docx</dc:creator>
  <cp:lastModifiedBy>jeevanshaine18@outlook.com</cp:lastModifiedBy>
  <cp:revision>2</cp:revision>
  <dcterms:created xsi:type="dcterms:W3CDTF">2026-09-04T17:25:23Z</dcterms:created>
  <dcterms:modified xsi:type="dcterms:W3CDTF">2026-09-05T01:55:47Z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2026-09-04T00:00:00Z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2026-09-04T00:00:00Z</vt:filetime>
  </property>
  <property fmtid="{D5CDD505-2E9C-101B-9397-08002B2CF9AE}" pid="6" name="Producer">
    <vt:lpwstr>www.ilovepdf.com</vt:lpwstr>
  </property>
</Properties>
</file>